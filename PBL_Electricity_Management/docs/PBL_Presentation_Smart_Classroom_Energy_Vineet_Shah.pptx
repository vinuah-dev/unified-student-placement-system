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4DB13C-5FE8-4E99-ADC8-888972DF1AC4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158CB9-4B84-44D7-9B9D-1CE55E02F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4213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Individual SE PBL project. The problem statement is from my Idea Lab project; for this PBL I built two software modules, managed the work in Jira and tested it with 78 test cases.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158CB9-4B84-44D7-9B9D-1CE55E02F3D6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53612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Problem statement from the Idea Lab project 'Electricity Management through Computer Vision &amp; Temperature Sensing'.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158CB9-4B84-44D7-9B9D-1CE55E02F3D6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3609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Green boxes are what I implemented. The hardware and the trained model were not available, so a simulator posts the same frames and executes relay commands like the ESP32.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158CB9-4B84-44D7-9B9D-1CE55E02F3D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87476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app/engine.py - RoomMonitor processes one frame at a time and validates every input (counts 0-50, temperatures 0-50 deg C, increasing timestamps).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158CB9-4B84-44D7-9B9D-1CE55E02F3D6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3213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Screenshot from the simulator run on 25-10-2026: LAB-1 left with 2 fans, 6 lights and the AC on - three open alerts and a pending fan OFF command.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158CB9-4B84-44D7-9B9D-1CE55E02F3D6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03548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Site rbunagpur-team-zhx8jd75.atlassian.net, space Smart Classroom Electricity Management (key SCEM), Scrum, team-managed. Screenshot: sprint planning in the backlog.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158CB9-4B84-44D7-9B9D-1CE55E02F3D6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25246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Status on 26-10-2026: 43 work items Done, 2 In Progress (SCEM-23 report and presentation, and its epic SCEM-4).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158CB9-4B84-44D7-9B9D-1CE55E02F3D6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53561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Expected results come from the requirements (docs/requirements.md), written before the first run. python -m tests.run_tests executes all cases and records the actual result of each.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158CB9-4B84-44D7-9B9D-1CE55E02F3D6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22205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BUG-02 was the most serious: the mean drop was rounded to 2 decimals before the threshold comparison. Found by the BVA case threshold - 0.001.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158CB9-4B84-44D7-9B9D-1CE55E02F3D6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9921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dark bar at the top of each screenshot is added by the UI test harness and shows the test case, time and result.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158CB9-4B84-44D7-9B9D-1CE55E02F3D6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91368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Demo order: server, simulator scenario ac_left_on for LAB-1 (fan, light and AC alerts), acknowledge an alert, send fan OFF, then all_off for CR-201, then the test run.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158CB9-4B84-44D7-9B9D-1CE55E02F3D6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70545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Close with the results and the next steps toward the full hardware system.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158CB9-4B84-44D7-9B9D-1CE55E02F3D6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63096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6096F-BFD4-66EC-89AD-8EE89C9AF2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67AE7F-6665-E80D-4267-3AC83CC4E8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59302-F0FA-BAA7-4DA7-537656BA4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6C2B2-2211-4113-ACCA-36FBDADD00EB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4B58CF-C787-53CC-A17B-B68AD066F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31630-8821-B14B-DCC2-6F0919EC5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4D4-6793-43F4-BFB5-541342F3B6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6663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D3239-6FB2-FB6E-F501-56A796A8B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F1613-0426-3999-A14A-6847288CA8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C2099-00C4-0E46-E5C0-21FD71107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6C2B2-2211-4113-ACCA-36FBDADD00EB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5AF4C2-A3D7-B40D-6B98-A8AC1F410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649A5F-75E2-A494-40AA-84041EB01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4D4-6793-43F4-BFB5-541342F3B6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239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29859-6471-ACD1-3D42-D1075C1A7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7FB6E-9567-E74E-21A6-467D7E4242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675CC4-9EA5-83A3-5436-EBC32DD70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6C2B2-2211-4113-ACCA-36FBDADD00EB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4BF8C-9C58-707A-BDE9-AF6EEC132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F0FEBA-8CAD-63A4-1AA7-B01920B7B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4D4-6793-43F4-BFB5-541342F3B6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0255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EF0DC-7E65-05F3-93DE-A11A9DAB9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66101-7FFD-EC08-32E6-C5ACD07ACF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33D5BB-2196-6891-CA1D-76C1238C34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C1A464-DC58-3466-D740-09E38209D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6C2B2-2211-4113-ACCA-36FBDADD00EB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CFC38-9214-E14D-323C-378BEBE68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0248E3-1C3C-974E-152F-4A2CDCCAC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4D4-6793-43F4-BFB5-541342F3B6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1610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FC410-446D-EC37-A8B6-F23B98CB6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0F970-A9A0-E117-9115-60F8106FA9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E16D3E-072D-F8DB-FEF1-AB2B3BF552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B18F8B-B9D5-4945-7857-CB36DC8DC3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6C2F7A-E679-014D-578B-991885543E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ECCF13-BEC3-138F-0683-5846C3B2F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6C2B2-2211-4113-ACCA-36FBDADD00EB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706856-4126-4651-729F-DEA34E10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E0DCB1-334D-2FF0-1D71-D56C35229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4D4-6793-43F4-BFB5-541342F3B6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2526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6283F-11F7-4E9E-B9F8-F3D710108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5B76DE-A1B8-924E-ED15-B1B679B3E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6C2B2-2211-4113-ACCA-36FBDADD00EB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35D22-0EA6-AD27-92F1-2AB9B16B3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1C37CB-BB37-F356-3806-9874D3382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4D4-6793-43F4-BFB5-541342F3B6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5277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964B4E-890B-3E77-7243-B8C7F9695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6C2B2-2211-4113-ACCA-36FBDADD00EB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8FB221-08F8-06DC-6AA6-CA93938F3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6FA466-D571-42ED-4C12-147D660D2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4D4-6793-43F4-BFB5-541342F3B6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6949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B2967-8617-6811-951E-90B9DCF62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7BD3C-ED40-94C0-D996-D644D08A2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2DE37-36A9-5AC2-3912-D28F9F0581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43AEF2-808C-C2A4-2FFA-C14E1B007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6C2B2-2211-4113-ACCA-36FBDADD00EB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4079DA-4F48-092D-12BE-88FEB4D91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901D93-E31C-71C0-D919-CA4897033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4D4-6793-43F4-BFB5-541342F3B6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8069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72FD4-89B7-7F48-0341-10000C87C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DD6BDD-6EEA-E078-B71D-FB1E915FA1A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9E4503-3136-21DC-5007-A94277EACD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CEF8ED-2712-B279-219C-17FBCBF2A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6C2B2-2211-4113-ACCA-36FBDADD00EB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EAD242-378C-CCE3-DE1B-0858B95B6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9A727C-AF80-4994-6D51-E0F04FEE7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4D4-6793-43F4-BFB5-541342F3B6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548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5C8AD-682D-D033-24C6-D9CBB4302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94C9A6-D8C5-FB2D-D7D1-1624C167F1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51863-AE6C-6DD8-4D89-274EF666C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6C2B2-2211-4113-ACCA-36FBDADD00EB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C8944-FCC0-56BF-52D2-52DCD8169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E676A-B09F-B5DB-E97F-2FE83612A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4D4-6793-43F4-BFB5-541342F3B6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3778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7983F1-938C-2720-BDFA-0BC1808621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5A6A9C-620A-DA49-10C5-D2670B86D0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8FDE8C-8BD0-99A9-4602-2A7E8A19F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6C2B2-2211-4113-ACCA-36FBDADD00EB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6458D-39EC-7637-EF9A-63F75B954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17AB8-FAAE-006B-D868-9CAB038CF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4D4-6793-43F4-BFB5-541342F3B6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2541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45616D-6A8C-BE4F-A706-7747BC643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4FF427-B0E0-A11E-49C2-B79AF43C3C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60191-AEDB-D4E3-FA29-7BD438F45A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86C2B2-2211-4113-ACCA-36FBDADD00EB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BD459-D945-A67E-6BAB-02FFFD268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523F9-1760-F7CF-EC8D-02E87BE4EC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2334D4-6793-43F4-BFB5-541342F3B6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5621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E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1F4222-CDF7-2E09-820F-AF8A4B89C365}"/>
              </a:ext>
            </a:extLst>
          </p:cNvPr>
          <p:cNvSpPr txBox="1"/>
          <p:nvPr/>
        </p:nvSpPr>
        <p:spPr>
          <a:xfrm>
            <a:off x="660400" y="8890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 b="1">
                <a:solidFill>
                  <a:srgbClr val="F59E0B"/>
                </a:solidFill>
                <a:latin typeface="Calibri" panose="020F0502020204030204" pitchFamily="34" charset="0"/>
              </a:rPr>
              <a:t>SOFTWARE ENGINEERING LAB · PROJECT-BASED LEARNING</a:t>
            </a:r>
            <a:endParaRPr lang="en-IN" sz="1300" b="1">
              <a:solidFill>
                <a:srgbClr val="F59E0B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E25CB5-FD04-2691-38F2-1C070CFC85FB}"/>
              </a:ext>
            </a:extLst>
          </p:cNvPr>
          <p:cNvSpPr txBox="1"/>
          <p:nvPr/>
        </p:nvSpPr>
        <p:spPr>
          <a:xfrm>
            <a:off x="660400" y="13208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4000" b="1">
                <a:solidFill>
                  <a:srgbClr val="FFFFFF"/>
                </a:solidFill>
                <a:latin typeface="Cambria" panose="02040503050406030204" pitchFamily="18" charset="0"/>
              </a:rPr>
              <a:t>Smart Classroom Electricity Management System</a:t>
            </a:r>
            <a:endParaRPr lang="en-IN" sz="4000" b="1">
              <a:solidFill>
                <a:srgbClr val="FFFFFF"/>
              </a:solidFill>
              <a:latin typeface="Cambria" panose="0204050305040603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2F6A0E-379E-8555-93E1-C435E857B539}"/>
              </a:ext>
            </a:extLst>
          </p:cNvPr>
          <p:cNvSpPr txBox="1"/>
          <p:nvPr/>
        </p:nvSpPr>
        <p:spPr>
          <a:xfrm>
            <a:off x="660400" y="3327400"/>
            <a:ext cx="685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>
                <a:solidFill>
                  <a:srgbClr val="BFE3CB"/>
                </a:solidFill>
                <a:latin typeface="Calibri" panose="020F0502020204030204" pitchFamily="34" charset="0"/>
              </a:rPr>
              <a:t>Vacancy detection, AC-state inference and appliance control</a:t>
            </a:r>
            <a:endParaRPr lang="en-IN" sz="1900">
              <a:solidFill>
                <a:srgbClr val="BFE3CB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ADDCDB-2727-CC90-B34C-C11AB2E96378}"/>
              </a:ext>
            </a:extLst>
          </p:cNvPr>
          <p:cNvSpPr txBox="1"/>
          <p:nvPr/>
        </p:nvSpPr>
        <p:spPr>
          <a:xfrm>
            <a:off x="660400" y="50546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sz="1500">
                <a:solidFill>
                  <a:srgbClr val="DDE7E1"/>
                </a:solidFill>
                <a:latin typeface="Calibri" panose="020F0502020204030204" pitchFamily="34" charset="0"/>
              </a:rPr>
              <a:t>Vineet Shah  ·  Roll No. 28  ·  5S CSE, A6-B2</a:t>
            </a:r>
          </a:p>
          <a:p>
            <a:pPr>
              <a:spcAft>
                <a:spcPts val="400"/>
              </a:spcAft>
            </a:pPr>
            <a:r>
              <a:rPr lang="en-US" sz="1500">
                <a:solidFill>
                  <a:srgbClr val="DDE7E1"/>
                </a:solidFill>
                <a:latin typeface="Calibri" panose="020F0502020204030204" pitchFamily="34" charset="0"/>
              </a:rPr>
              <a:t>Software Engineering Lab (24CS01PR0502)  ·  2026-27</a:t>
            </a:r>
            <a:endParaRPr lang="en-IN" sz="1500">
              <a:solidFill>
                <a:srgbClr val="DDE7E1"/>
              </a:solidFill>
              <a:latin typeface="Calibri" panose="020F0502020204030204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9DEAE25-C121-A404-F68B-2D9777BACD59}"/>
              </a:ext>
            </a:extLst>
          </p:cNvPr>
          <p:cNvSpPr/>
          <p:nvPr/>
        </p:nvSpPr>
        <p:spPr>
          <a:xfrm>
            <a:off x="8890000" y="812800"/>
            <a:ext cx="1498600" cy="1498600"/>
          </a:xfrm>
          <a:prstGeom prst="ellipse">
            <a:avLst/>
          </a:prstGeom>
          <a:solidFill>
            <a:srgbClr val="1453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4000" b="1">
                <a:solidFill>
                  <a:srgbClr val="FFFFFF"/>
                </a:solidFill>
                <a:latin typeface="Cambria" panose="02040503050406030204" pitchFamily="18" charset="0"/>
              </a:rPr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6753D8-97A5-DA16-6F00-B5DC38CE5FA3}"/>
              </a:ext>
            </a:extLst>
          </p:cNvPr>
          <p:cNvSpPr txBox="1"/>
          <p:nvPr/>
        </p:nvSpPr>
        <p:spPr>
          <a:xfrm>
            <a:off x="10541000" y="1295400"/>
            <a:ext cx="1397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>
                <a:solidFill>
                  <a:srgbClr val="DDE7E1"/>
                </a:solidFill>
                <a:latin typeface="Calibri" panose="020F0502020204030204" pitchFamily="34" charset="0"/>
              </a:rPr>
              <a:t>modules built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1EDAF4A-961A-350E-70F8-2CCE415E8488}"/>
              </a:ext>
            </a:extLst>
          </p:cNvPr>
          <p:cNvSpPr/>
          <p:nvPr/>
        </p:nvSpPr>
        <p:spPr>
          <a:xfrm>
            <a:off x="8890000" y="2590800"/>
            <a:ext cx="1498600" cy="1498600"/>
          </a:xfrm>
          <a:prstGeom prst="ellipse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4000" b="1">
                <a:solidFill>
                  <a:srgbClr val="FFFFFF"/>
                </a:solidFill>
                <a:latin typeface="Cambria" panose="02040503050406030204" pitchFamily="18" charset="0"/>
              </a:rPr>
              <a:t>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D8E4C6-0D89-B93C-366B-CAB10C54978B}"/>
              </a:ext>
            </a:extLst>
          </p:cNvPr>
          <p:cNvSpPr txBox="1"/>
          <p:nvPr/>
        </p:nvSpPr>
        <p:spPr>
          <a:xfrm>
            <a:off x="10541000" y="3073400"/>
            <a:ext cx="1397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>
                <a:solidFill>
                  <a:srgbClr val="DDE7E1"/>
                </a:solidFill>
                <a:latin typeface="Calibri" panose="020F0502020204030204" pitchFamily="34" charset="0"/>
              </a:rPr>
              <a:t>test cases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3BAAB92-096F-BFA2-EB5C-924989E20569}"/>
              </a:ext>
            </a:extLst>
          </p:cNvPr>
          <p:cNvSpPr/>
          <p:nvPr/>
        </p:nvSpPr>
        <p:spPr>
          <a:xfrm>
            <a:off x="8890000" y="4368800"/>
            <a:ext cx="1498600" cy="1498600"/>
          </a:xfrm>
          <a:prstGeom prst="ellipse">
            <a:avLst/>
          </a:prstGeom>
          <a:solidFill>
            <a:srgbClr val="1453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4000" b="1">
                <a:solidFill>
                  <a:srgbClr val="FFFFFF"/>
                </a:solidFill>
                <a:latin typeface="Cambria" panose="02040503050406030204" pitchFamily="18" charset="0"/>
              </a:rPr>
              <a:t>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8D0A05-DA5F-6B5C-807C-D1F53FCFD7CF}"/>
              </a:ext>
            </a:extLst>
          </p:cNvPr>
          <p:cNvSpPr txBox="1"/>
          <p:nvPr/>
        </p:nvSpPr>
        <p:spPr>
          <a:xfrm>
            <a:off x="10541000" y="4851400"/>
            <a:ext cx="1397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>
                <a:solidFill>
                  <a:srgbClr val="DDE7E1"/>
                </a:solidFill>
                <a:latin typeface="Calibri" panose="020F0502020204030204" pitchFamily="34" charset="0"/>
              </a:rPr>
              <a:t>Jira work items</a:t>
            </a:r>
          </a:p>
        </p:txBody>
      </p:sp>
    </p:spTree>
    <p:extLst>
      <p:ext uri="{BB962C8B-B14F-4D97-AF65-F5344CB8AC3E}">
        <p14:creationId xmlns:p14="http://schemas.microsoft.com/office/powerpoint/2010/main" val="3619711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5F443D6-86FF-3508-5CAB-CF027AC5C9A3}"/>
              </a:ext>
            </a:extLst>
          </p:cNvPr>
          <p:cNvSpPr txBox="1"/>
          <p:nvPr/>
        </p:nvSpPr>
        <p:spPr>
          <a:xfrm>
            <a:off x="558800" y="330200"/>
            <a:ext cx="1107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3200" b="1">
                <a:solidFill>
                  <a:srgbClr val="14532D"/>
                </a:solidFill>
                <a:latin typeface="Cambria" panose="02040503050406030204" pitchFamily="18" charset="0"/>
              </a:rPr>
              <a:t>Why classrooms waste electricity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1A11049-07ED-13E7-6439-9CA3E8F86CBE}"/>
              </a:ext>
            </a:extLst>
          </p:cNvPr>
          <p:cNvSpPr/>
          <p:nvPr/>
        </p:nvSpPr>
        <p:spPr>
          <a:xfrm>
            <a:off x="558800" y="1422400"/>
            <a:ext cx="3488267" cy="2540000"/>
          </a:xfrm>
          <a:prstGeom prst="roundRect">
            <a:avLst>
              <a:gd name="adj" fmla="val 12000"/>
            </a:avLst>
          </a:prstGeom>
          <a:solidFill>
            <a:srgbClr val="E3F5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3D1B78E-FD05-51AF-2326-84937F125277}"/>
              </a:ext>
            </a:extLst>
          </p:cNvPr>
          <p:cNvSpPr/>
          <p:nvPr/>
        </p:nvSpPr>
        <p:spPr>
          <a:xfrm>
            <a:off x="762000" y="1625600"/>
            <a:ext cx="431800" cy="431800"/>
          </a:xfrm>
          <a:prstGeom prst="ellipse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500" b="1">
                <a:solidFill>
                  <a:srgbClr val="FFFFFF"/>
                </a:solidFill>
                <a:latin typeface="Cambria" panose="02040503050406030204" pitchFamily="18" charset="0"/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B8B20E-E609-66B8-CC96-2D8504008532}"/>
              </a:ext>
            </a:extLst>
          </p:cNvPr>
          <p:cNvSpPr txBox="1"/>
          <p:nvPr/>
        </p:nvSpPr>
        <p:spPr>
          <a:xfrm>
            <a:off x="1346200" y="1651000"/>
            <a:ext cx="2497667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700" b="1">
                <a:solidFill>
                  <a:srgbClr val="14532D"/>
                </a:solidFill>
                <a:latin typeface="Cambria" panose="02040503050406030204" pitchFamily="18" charset="0"/>
              </a:rPr>
              <a:t>Appliances stay 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0875A6-DE09-8E1F-9873-AAEA37049B6D}"/>
              </a:ext>
            </a:extLst>
          </p:cNvPr>
          <p:cNvSpPr txBox="1"/>
          <p:nvPr/>
        </p:nvSpPr>
        <p:spPr>
          <a:xfrm>
            <a:off x="787400" y="2209800"/>
            <a:ext cx="3031067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1B2430"/>
                </a:solidFill>
                <a:latin typeface="Calibri" panose="020F0502020204030204" pitchFamily="34" charset="0"/>
              </a:rPr>
              <a:t>Lights, fans and ACs keep running after a lecture ends. Manual switching and fixed timers cannot follow irregular schedules.</a:t>
            </a:r>
            <a:endParaRPr lang="en-IN" sz="1400">
              <a:solidFill>
                <a:srgbClr val="1B2430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0129E92-4126-CD60-12A0-84A996BA71D9}"/>
              </a:ext>
            </a:extLst>
          </p:cNvPr>
          <p:cNvSpPr/>
          <p:nvPr/>
        </p:nvSpPr>
        <p:spPr>
          <a:xfrm>
            <a:off x="4351867" y="1422400"/>
            <a:ext cx="3488266" cy="2540000"/>
          </a:xfrm>
          <a:prstGeom prst="roundRect">
            <a:avLst>
              <a:gd name="adj" fmla="val 12000"/>
            </a:avLst>
          </a:prstGeom>
          <a:solidFill>
            <a:srgbClr val="E3F5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723636B-8221-F431-8EBF-42949171E1CF}"/>
              </a:ext>
            </a:extLst>
          </p:cNvPr>
          <p:cNvSpPr/>
          <p:nvPr/>
        </p:nvSpPr>
        <p:spPr>
          <a:xfrm>
            <a:off x="4555067" y="1625600"/>
            <a:ext cx="431800" cy="431800"/>
          </a:xfrm>
          <a:prstGeom prst="ellipse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500" b="1">
                <a:solidFill>
                  <a:srgbClr val="FFFFFF"/>
                </a:solidFill>
                <a:latin typeface="Cambria" panose="02040503050406030204" pitchFamily="18" charset="0"/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C7E474-9156-8E29-E616-FE804FD54AF8}"/>
              </a:ext>
            </a:extLst>
          </p:cNvPr>
          <p:cNvSpPr txBox="1"/>
          <p:nvPr/>
        </p:nvSpPr>
        <p:spPr>
          <a:xfrm>
            <a:off x="5139267" y="1651000"/>
            <a:ext cx="2497667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700" b="1">
                <a:solidFill>
                  <a:srgbClr val="14532D"/>
                </a:solidFill>
                <a:latin typeface="Cambria" panose="02040503050406030204" pitchFamily="18" charset="0"/>
              </a:rPr>
              <a:t>Sensors miss the picture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6B5ACA-4EA6-2AEE-3A77-90800A63B84E}"/>
              </a:ext>
            </a:extLst>
          </p:cNvPr>
          <p:cNvSpPr txBox="1"/>
          <p:nvPr/>
        </p:nvSpPr>
        <p:spPr>
          <a:xfrm>
            <a:off x="4580467" y="2209800"/>
            <a:ext cx="3031067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1B2430"/>
                </a:solidFill>
                <a:latin typeface="Calibri" panose="020F0502020204030204" pitchFamily="34" charset="0"/>
              </a:rPr>
              <a:t>PIR sensors cannot see whether fans or lights are on, and miss people who sit still.</a:t>
            </a:r>
            <a:endParaRPr lang="en-IN" sz="1400">
              <a:solidFill>
                <a:srgbClr val="1B2430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E23A5CC-035F-C43C-1D9B-2DBEED87A2CB}"/>
              </a:ext>
            </a:extLst>
          </p:cNvPr>
          <p:cNvSpPr/>
          <p:nvPr/>
        </p:nvSpPr>
        <p:spPr>
          <a:xfrm>
            <a:off x="8144933" y="1422400"/>
            <a:ext cx="3488267" cy="2540000"/>
          </a:xfrm>
          <a:prstGeom prst="roundRect">
            <a:avLst>
              <a:gd name="adj" fmla="val 12000"/>
            </a:avLst>
          </a:prstGeom>
          <a:solidFill>
            <a:srgbClr val="E3F5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E7620EB-1B2C-B476-7E61-55ABE54B8B54}"/>
              </a:ext>
            </a:extLst>
          </p:cNvPr>
          <p:cNvSpPr/>
          <p:nvPr/>
        </p:nvSpPr>
        <p:spPr>
          <a:xfrm>
            <a:off x="8348133" y="1625600"/>
            <a:ext cx="431800" cy="431800"/>
          </a:xfrm>
          <a:prstGeom prst="ellipse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500" b="1">
                <a:solidFill>
                  <a:srgbClr val="FFFFFF"/>
                </a:solidFill>
                <a:latin typeface="Cambria" panose="02040503050406030204" pitchFamily="18" charset="0"/>
              </a:rPr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D50026-5A80-CA04-D2D3-1938880A8726}"/>
              </a:ext>
            </a:extLst>
          </p:cNvPr>
          <p:cNvSpPr txBox="1"/>
          <p:nvPr/>
        </p:nvSpPr>
        <p:spPr>
          <a:xfrm>
            <a:off x="8932333" y="1651000"/>
            <a:ext cx="2497667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700" b="1">
                <a:solidFill>
                  <a:srgbClr val="14532D"/>
                </a:solidFill>
                <a:latin typeface="Cambria" panose="02040503050406030204" pitchFamily="18" charset="0"/>
              </a:rPr>
              <a:t>AC state is invisible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159736-A56B-1D6E-6F92-E1ECA8B8B003}"/>
              </a:ext>
            </a:extLst>
          </p:cNvPr>
          <p:cNvSpPr txBox="1"/>
          <p:nvPr/>
        </p:nvSpPr>
        <p:spPr>
          <a:xfrm>
            <a:off x="8373533" y="2209800"/>
            <a:ext cx="3031067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1B2430"/>
                </a:solidFill>
                <a:latin typeface="Calibri" panose="020F0502020204030204" pitchFamily="34" charset="0"/>
              </a:rPr>
              <a:t>One temperature sensor cannot tell whether the AC is still cooling an empty room.</a:t>
            </a:r>
            <a:endParaRPr lang="en-IN" sz="1400">
              <a:solidFill>
                <a:srgbClr val="1B2430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6892504-03C7-F6F4-1847-A8EF3CAB4C81}"/>
              </a:ext>
            </a:extLst>
          </p:cNvPr>
          <p:cNvSpPr/>
          <p:nvPr/>
        </p:nvSpPr>
        <p:spPr>
          <a:xfrm>
            <a:off x="558800" y="4318000"/>
            <a:ext cx="11074400" cy="1219200"/>
          </a:xfrm>
          <a:prstGeom prst="roundRect">
            <a:avLst>
              <a:gd name="adj" fmla="val 12000"/>
            </a:avLst>
          </a:prstGeom>
          <a:solidFill>
            <a:srgbClr val="FFF7E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9EBB83-58B1-7690-9E3D-903D630AC116}"/>
              </a:ext>
            </a:extLst>
          </p:cNvPr>
          <p:cNvSpPr txBox="1"/>
          <p:nvPr/>
        </p:nvSpPr>
        <p:spPr>
          <a:xfrm>
            <a:off x="812800" y="4521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200"/>
              </a:spcAft>
            </a:pPr>
            <a:r>
              <a:rPr lang="en-US" sz="1500" b="1">
                <a:solidFill>
                  <a:srgbClr val="14532D"/>
                </a:solidFill>
                <a:latin typeface="Calibri" panose="020F0502020204030204" pitchFamily="34" charset="0"/>
              </a:rPr>
              <a:t>Proposed system</a:t>
            </a:r>
          </a:p>
          <a:p>
            <a:pPr>
              <a:spcAft>
                <a:spcPts val="200"/>
              </a:spcAft>
            </a:pPr>
            <a:r>
              <a:rPr lang="en-US" sz="1400">
                <a:solidFill>
                  <a:srgbClr val="1B2430"/>
                </a:solidFill>
                <a:latin typeface="Calibri" panose="020F0502020204030204" pitchFamily="34" charset="0"/>
              </a:rPr>
              <a:t>CCTV + YOLOv8 counts people, fans and lights; four DHT11 sensors read four room regions; an ESP32 switches relays; a web dashboard shows alerts and lets an operator act.</a:t>
            </a:r>
            <a:endParaRPr lang="en-IN" sz="1400">
              <a:solidFill>
                <a:srgbClr val="1B2430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9BCFE6-3A30-DE18-7034-9A1F1D8E201D}"/>
              </a:ext>
            </a:extLst>
          </p:cNvPr>
          <p:cNvSpPr txBox="1"/>
          <p:nvPr/>
        </p:nvSpPr>
        <p:spPr>
          <a:xfrm>
            <a:off x="558800" y="65278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5D6676"/>
                </a:solidFill>
                <a:latin typeface="Calibri" panose="020F0502020204030204" pitchFamily="34" charset="0"/>
              </a:rPr>
              <a:t>Smart Classroom Electricity Management · SE Lab PBL · Vineet Shah</a:t>
            </a:r>
            <a:endParaRPr lang="en-IN" sz="1000">
              <a:solidFill>
                <a:srgbClr val="5D6676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D8EE41-1746-6509-CDC1-81CC2767DB7C}"/>
              </a:ext>
            </a:extLst>
          </p:cNvPr>
          <p:cNvSpPr txBox="1"/>
          <p:nvPr/>
        </p:nvSpPr>
        <p:spPr>
          <a:xfrm>
            <a:off x="10871200" y="65278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1000">
                <a:solidFill>
                  <a:srgbClr val="5D6676"/>
                </a:solidFill>
                <a:latin typeface="Calibri" panose="020F050202020403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087319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083CF24-3D7B-8FF2-009C-B592669F7AA4}"/>
              </a:ext>
            </a:extLst>
          </p:cNvPr>
          <p:cNvSpPr txBox="1"/>
          <p:nvPr/>
        </p:nvSpPr>
        <p:spPr>
          <a:xfrm>
            <a:off x="558800" y="330200"/>
            <a:ext cx="1107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3200" b="1">
                <a:solidFill>
                  <a:srgbClr val="14532D"/>
                </a:solidFill>
                <a:latin typeface="Cambria" panose="02040503050406030204" pitchFamily="18" charset="0"/>
              </a:rPr>
              <a:t>What this PBL builds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B906CD-5E6A-8090-7362-2F8795E2761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0" y="1666942"/>
            <a:ext cx="7112000" cy="3828916"/>
          </a:xfrm>
          <a:prstGeom prst="rect">
            <a:avLst/>
          </a:prstGeom>
          <a:ln w="9525">
            <a:solidFill>
              <a:srgbClr val="D7DCE4"/>
            </a:solidFill>
          </a:ln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9B80AA2-79F8-6955-E066-1390390F045F}"/>
              </a:ext>
            </a:extLst>
          </p:cNvPr>
          <p:cNvSpPr/>
          <p:nvPr/>
        </p:nvSpPr>
        <p:spPr>
          <a:xfrm>
            <a:off x="7924800" y="1219200"/>
            <a:ext cx="3708400" cy="2235200"/>
          </a:xfrm>
          <a:prstGeom prst="roundRect">
            <a:avLst>
              <a:gd name="adj" fmla="val 12000"/>
            </a:avLst>
          </a:prstGeom>
          <a:solidFill>
            <a:srgbClr val="E3F5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E7687C-0BD3-C4B5-7435-7F6DA2882B5F}"/>
              </a:ext>
            </a:extLst>
          </p:cNvPr>
          <p:cNvSpPr txBox="1"/>
          <p:nvPr/>
        </p:nvSpPr>
        <p:spPr>
          <a:xfrm>
            <a:off x="8153400" y="1447800"/>
            <a:ext cx="3276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700" b="1">
                <a:solidFill>
                  <a:srgbClr val="14532D"/>
                </a:solidFill>
                <a:latin typeface="Cambria" panose="02040503050406030204" pitchFamily="18" charset="0"/>
              </a:rPr>
              <a:t>Implemented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3CE26A-CDC1-BD40-4F9F-56A2CD2C1398}"/>
              </a:ext>
            </a:extLst>
          </p:cNvPr>
          <p:cNvSpPr txBox="1"/>
          <p:nvPr/>
        </p:nvSpPr>
        <p:spPr>
          <a:xfrm>
            <a:off x="8153400" y="2006600"/>
            <a:ext cx="3251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1B2430"/>
                </a:solidFill>
                <a:latin typeface="Calibri" panose="020F0502020204030204" pitchFamily="34" charset="0"/>
              </a:rPr>
              <a:t>Module 1 - detection engine
Module 2 - REST API, SQLite database and web dashboard</a:t>
            </a:r>
            <a:endParaRPr lang="en-IN" sz="1400">
              <a:solidFill>
                <a:srgbClr val="1B2430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66CE1A8-D1EF-ECFF-F962-9C65F1C40F36}"/>
              </a:ext>
            </a:extLst>
          </p:cNvPr>
          <p:cNvSpPr/>
          <p:nvPr/>
        </p:nvSpPr>
        <p:spPr>
          <a:xfrm>
            <a:off x="7924800" y="3683000"/>
            <a:ext cx="3708400" cy="2235200"/>
          </a:xfrm>
          <a:prstGeom prst="roundRect">
            <a:avLst>
              <a:gd name="adj" fmla="val 12000"/>
            </a:avLst>
          </a:prstGeom>
          <a:solidFill>
            <a:srgbClr val="E3F5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83B3C9-3803-FAF8-A9F9-539439AB6A6B}"/>
              </a:ext>
            </a:extLst>
          </p:cNvPr>
          <p:cNvSpPr txBox="1"/>
          <p:nvPr/>
        </p:nvSpPr>
        <p:spPr>
          <a:xfrm>
            <a:off x="8153400" y="3911600"/>
            <a:ext cx="3276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700" b="1">
                <a:solidFill>
                  <a:srgbClr val="14532D"/>
                </a:solidFill>
                <a:latin typeface="Cambria" panose="02040503050406030204" pitchFamily="18" charset="0"/>
              </a:rPr>
              <a:t>Simulated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74CD45-1464-6D0B-9E9A-C09B893F5AE9}"/>
              </a:ext>
            </a:extLst>
          </p:cNvPr>
          <p:cNvSpPr txBox="1"/>
          <p:nvPr/>
        </p:nvSpPr>
        <p:spPr>
          <a:xfrm>
            <a:off x="8153400" y="4470400"/>
            <a:ext cx="3251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1B2430"/>
                </a:solidFill>
                <a:latin typeface="Calibri" panose="020F0502020204030204" pitchFamily="34" charset="0"/>
              </a:rPr>
              <a:t>CCTV + YOLOv8, four DHT11 sensors and the ESP32 are replaced by app/simulator.py, which sends the same data</a:t>
            </a:r>
            <a:endParaRPr lang="en-IN" sz="1400">
              <a:solidFill>
                <a:srgbClr val="1B2430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7B397C-9BDD-25F4-80CA-FDAD00B3576C}"/>
              </a:ext>
            </a:extLst>
          </p:cNvPr>
          <p:cNvSpPr txBox="1"/>
          <p:nvPr/>
        </p:nvSpPr>
        <p:spPr>
          <a:xfrm>
            <a:off x="558800" y="60960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200">
                <a:solidFill>
                  <a:srgbClr val="5D6676"/>
                </a:solidFill>
                <a:latin typeface="Calibri" panose="020F0502020204030204" pitchFamily="34" charset="0"/>
              </a:rPr>
              <a:t>Python 3.11 standard library · SQLite · HTML, CSS, JavaScript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5D8BC7-3B58-DE87-E7DE-689E7EF40198}"/>
              </a:ext>
            </a:extLst>
          </p:cNvPr>
          <p:cNvSpPr txBox="1"/>
          <p:nvPr/>
        </p:nvSpPr>
        <p:spPr>
          <a:xfrm>
            <a:off x="558800" y="65278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5D6676"/>
                </a:solidFill>
                <a:latin typeface="Calibri" panose="020F0502020204030204" pitchFamily="34" charset="0"/>
              </a:rPr>
              <a:t>Smart Classroom Electricity Management · SE Lab PBL · Vineet Shah</a:t>
            </a:r>
            <a:endParaRPr lang="en-IN" sz="1000">
              <a:solidFill>
                <a:srgbClr val="5D6676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C35DE1-157F-7F78-3D2B-AF0F970DF23E}"/>
              </a:ext>
            </a:extLst>
          </p:cNvPr>
          <p:cNvSpPr txBox="1"/>
          <p:nvPr/>
        </p:nvSpPr>
        <p:spPr>
          <a:xfrm>
            <a:off x="10871200" y="65278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1000">
                <a:solidFill>
                  <a:srgbClr val="5D6676"/>
                </a:solidFill>
                <a:latin typeface="Calibri" panose="020F050202020403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387649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88E0E6E-81D8-3377-6673-7E841A6F80D6}"/>
              </a:ext>
            </a:extLst>
          </p:cNvPr>
          <p:cNvSpPr txBox="1"/>
          <p:nvPr/>
        </p:nvSpPr>
        <p:spPr>
          <a:xfrm>
            <a:off x="558800" y="330200"/>
            <a:ext cx="1107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200" b="1">
                <a:solidFill>
                  <a:srgbClr val="14532D"/>
                </a:solidFill>
                <a:latin typeface="Cambria" panose="02040503050406030204" pitchFamily="18" charset="0"/>
              </a:rPr>
              <a:t>Module 1 · Vacancy and AC-state detection engine</a:t>
            </a:r>
            <a:endParaRPr lang="en-IN" sz="3200" b="1">
              <a:solidFill>
                <a:srgbClr val="14532D"/>
              </a:solidFill>
              <a:latin typeface="Cambria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A99A59-53BC-1A7B-F7C5-139A1B333BC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447" y="1066800"/>
            <a:ext cx="9989106" cy="29972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E83E0A9-704F-6B48-0F68-B9C53ACB638E}"/>
              </a:ext>
            </a:extLst>
          </p:cNvPr>
          <p:cNvSpPr/>
          <p:nvPr/>
        </p:nvSpPr>
        <p:spPr>
          <a:xfrm>
            <a:off x="558800" y="4241800"/>
            <a:ext cx="3522133" cy="2057400"/>
          </a:xfrm>
          <a:prstGeom prst="roundRect">
            <a:avLst>
              <a:gd name="adj" fmla="val 12000"/>
            </a:avLst>
          </a:prstGeom>
          <a:solidFill>
            <a:srgbClr val="E3F5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81AAB3-A341-D4B2-639D-636D7218833F}"/>
              </a:ext>
            </a:extLst>
          </p:cNvPr>
          <p:cNvSpPr txBox="1"/>
          <p:nvPr/>
        </p:nvSpPr>
        <p:spPr>
          <a:xfrm>
            <a:off x="787400" y="4470400"/>
            <a:ext cx="3090333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600" b="1">
                <a:solidFill>
                  <a:srgbClr val="14532D"/>
                </a:solidFill>
                <a:latin typeface="Cambria" panose="02040503050406030204" pitchFamily="18" charset="0"/>
              </a:rPr>
              <a:t>Vacancy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04902A-8693-250D-516B-30994EC66EDC}"/>
              </a:ext>
            </a:extLst>
          </p:cNvPr>
          <p:cNvSpPr txBox="1"/>
          <p:nvPr/>
        </p:nvSpPr>
        <p:spPr>
          <a:xfrm>
            <a:off x="787400" y="5029200"/>
            <a:ext cx="3064933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1B2430"/>
                </a:solidFill>
                <a:latin typeface="Calibri" panose="020F0502020204030204" pitchFamily="34" charset="0"/>
              </a:rPr>
              <a:t>Room is vacant only after N consecutive frames with no people (default 10). Any person resets the count.</a:t>
            </a:r>
            <a:endParaRPr lang="en-IN" sz="1300">
              <a:solidFill>
                <a:srgbClr val="1B2430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6E43185-7BFD-6D1B-F7FB-3A5394109CA4}"/>
              </a:ext>
            </a:extLst>
          </p:cNvPr>
          <p:cNvSpPr/>
          <p:nvPr/>
        </p:nvSpPr>
        <p:spPr>
          <a:xfrm>
            <a:off x="4334933" y="4241800"/>
            <a:ext cx="3522134" cy="2057400"/>
          </a:xfrm>
          <a:prstGeom prst="roundRect">
            <a:avLst>
              <a:gd name="adj" fmla="val 12000"/>
            </a:avLst>
          </a:prstGeom>
          <a:solidFill>
            <a:srgbClr val="E3F5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E8EBE4-33A5-0A22-59E0-844D4ED4D80C}"/>
              </a:ext>
            </a:extLst>
          </p:cNvPr>
          <p:cNvSpPr txBox="1"/>
          <p:nvPr/>
        </p:nvSpPr>
        <p:spPr>
          <a:xfrm>
            <a:off x="4563533" y="4470400"/>
            <a:ext cx="3090333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600" b="1">
                <a:solidFill>
                  <a:srgbClr val="14532D"/>
                </a:solidFill>
                <a:latin typeface="Cambria" panose="02040503050406030204" pitchFamily="18" charset="0"/>
              </a:rPr>
              <a:t>Wastage alerts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373D21-DF4C-372D-F12A-86039E3656AB}"/>
              </a:ext>
            </a:extLst>
          </p:cNvPr>
          <p:cNvSpPr txBox="1"/>
          <p:nvPr/>
        </p:nvSpPr>
        <p:spPr>
          <a:xfrm>
            <a:off x="4563533" y="5029200"/>
            <a:ext cx="3064933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1B2430"/>
                </a:solidFill>
                <a:latin typeface="Calibri" panose="020F0502020204030204" pitchFamily="34" charset="0"/>
              </a:rPr>
              <a:t>FAN_ON_VACANT and LIGHT_ON_VACANT are raised while the room is vacant, once per occurrence.</a:t>
            </a:r>
            <a:endParaRPr lang="en-IN" sz="1300">
              <a:solidFill>
                <a:srgbClr val="1B2430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BA0AD7C-3786-8A61-69B1-6241ED8C73A6}"/>
              </a:ext>
            </a:extLst>
          </p:cNvPr>
          <p:cNvSpPr/>
          <p:nvPr/>
        </p:nvSpPr>
        <p:spPr>
          <a:xfrm>
            <a:off x="8111067" y="4241800"/>
            <a:ext cx="3522133" cy="2057400"/>
          </a:xfrm>
          <a:prstGeom prst="roundRect">
            <a:avLst>
              <a:gd name="adj" fmla="val 12000"/>
            </a:avLst>
          </a:prstGeom>
          <a:solidFill>
            <a:srgbClr val="E3F5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F6C2EA-E1FC-3981-22D8-D78B0857294F}"/>
              </a:ext>
            </a:extLst>
          </p:cNvPr>
          <p:cNvSpPr txBox="1"/>
          <p:nvPr/>
        </p:nvSpPr>
        <p:spPr>
          <a:xfrm>
            <a:off x="8339667" y="4470400"/>
            <a:ext cx="3090333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600" b="1">
                <a:solidFill>
                  <a:srgbClr val="14532D"/>
                </a:solidFill>
                <a:latin typeface="Cambria" panose="02040503050406030204" pitchFamily="18" charset="0"/>
              </a:rPr>
              <a:t>AC inference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A0DE06-F78F-8072-AE09-7D9CB508C5EB}"/>
              </a:ext>
            </a:extLst>
          </p:cNvPr>
          <p:cNvSpPr txBox="1"/>
          <p:nvPr/>
        </p:nvSpPr>
        <p:spPr>
          <a:xfrm>
            <a:off x="8339667" y="5029200"/>
            <a:ext cx="3064933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1B2430"/>
                </a:solidFill>
                <a:latin typeface="Calibri" panose="020F0502020204030204" pitchFamily="34" charset="0"/>
              </a:rPr>
              <a:t>After wait_seconds, mean temperature drop over the 4 regions &gt;= threshold means the AC is still ON.</a:t>
            </a:r>
            <a:endParaRPr lang="en-IN" sz="1300">
              <a:solidFill>
                <a:srgbClr val="1B2430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421640-DD8E-EF93-6F55-EC25436CE6AC}"/>
              </a:ext>
            </a:extLst>
          </p:cNvPr>
          <p:cNvSpPr txBox="1"/>
          <p:nvPr/>
        </p:nvSpPr>
        <p:spPr>
          <a:xfrm>
            <a:off x="558800" y="65278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5D6676"/>
                </a:solidFill>
                <a:latin typeface="Calibri" panose="020F0502020204030204" pitchFamily="34" charset="0"/>
              </a:rPr>
              <a:t>Smart Classroom Electricity Management · SE Lab PBL · Vineet Shah</a:t>
            </a:r>
            <a:endParaRPr lang="en-IN" sz="1000">
              <a:solidFill>
                <a:srgbClr val="5D6676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5705B2-C440-08C0-69D8-E14A6EB647D7}"/>
              </a:ext>
            </a:extLst>
          </p:cNvPr>
          <p:cNvSpPr txBox="1"/>
          <p:nvPr/>
        </p:nvSpPr>
        <p:spPr>
          <a:xfrm>
            <a:off x="10871200" y="65278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1000">
                <a:solidFill>
                  <a:srgbClr val="5D6676"/>
                </a:solidFill>
                <a:latin typeface="Calibri" panose="020F050202020403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92372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33F92C2-04F3-5AAE-A6A9-3A2425F0EF3E}"/>
              </a:ext>
            </a:extLst>
          </p:cNvPr>
          <p:cNvSpPr txBox="1"/>
          <p:nvPr/>
        </p:nvSpPr>
        <p:spPr>
          <a:xfrm>
            <a:off x="558800" y="330200"/>
            <a:ext cx="1107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200" b="1">
                <a:solidFill>
                  <a:srgbClr val="14532D"/>
                </a:solidFill>
                <a:latin typeface="Cambria" panose="02040503050406030204" pitchFamily="18" charset="0"/>
              </a:rPr>
              <a:t>Module 2 · Monitoring dashboard and control</a:t>
            </a:r>
            <a:endParaRPr lang="en-IN" sz="3200" b="1">
              <a:solidFill>
                <a:srgbClr val="14532D"/>
              </a:solidFill>
              <a:latin typeface="Cambria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379318-70FC-EAAB-4543-D76643648A0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0" y="1195388"/>
            <a:ext cx="5080000" cy="5000625"/>
          </a:xfrm>
          <a:prstGeom prst="rect">
            <a:avLst/>
          </a:prstGeom>
          <a:ln w="9525">
            <a:solidFill>
              <a:srgbClr val="D7DCE4"/>
            </a:solidFill>
          </a:ln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29DABEE-FA6C-10BE-4699-BF32E6030868}"/>
              </a:ext>
            </a:extLst>
          </p:cNvPr>
          <p:cNvSpPr/>
          <p:nvPr/>
        </p:nvSpPr>
        <p:spPr>
          <a:xfrm>
            <a:off x="6045200" y="1117600"/>
            <a:ext cx="5588000" cy="914400"/>
          </a:xfrm>
          <a:prstGeom prst="roundRect">
            <a:avLst>
              <a:gd name="adj" fmla="val 12000"/>
            </a:avLst>
          </a:prstGeom>
          <a:solidFill>
            <a:srgbClr val="E3F5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49481DC-2923-4DBF-3684-5D9FEE74222B}"/>
              </a:ext>
            </a:extLst>
          </p:cNvPr>
          <p:cNvSpPr/>
          <p:nvPr/>
        </p:nvSpPr>
        <p:spPr>
          <a:xfrm>
            <a:off x="6223000" y="1358900"/>
            <a:ext cx="431800" cy="431800"/>
          </a:xfrm>
          <a:prstGeom prst="ellipse">
            <a:avLst/>
          </a:prstGeom>
          <a:solidFill>
            <a:srgbClr val="1453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Cambria" panose="02040503050406030204" pitchFamily="18" charset="0"/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2FA2EB-0C9E-D701-163B-C50CE601D23A}"/>
              </a:ext>
            </a:extLst>
          </p:cNvPr>
          <p:cNvSpPr txBox="1"/>
          <p:nvPr/>
        </p:nvSpPr>
        <p:spPr>
          <a:xfrm>
            <a:off x="6832600" y="1244600"/>
            <a:ext cx="4622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14532D"/>
                </a:solidFill>
                <a:latin typeface="Cambria" panose="02040503050406030204" pitchFamily="18" charset="0"/>
              </a:rPr>
              <a:t>Live room status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A82255-6060-A89A-FCE8-FDDD4BCF181A}"/>
              </a:ext>
            </a:extLst>
          </p:cNvPr>
          <p:cNvSpPr txBox="1"/>
          <p:nvPr/>
        </p:nvSpPr>
        <p:spPr>
          <a:xfrm>
            <a:off x="6832600" y="1574800"/>
            <a:ext cx="462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1B2430"/>
                </a:solidFill>
                <a:latin typeface="Calibri" panose="020F0502020204030204" pitchFamily="34" charset="0"/>
              </a:rPr>
              <a:t>state badge, people, fans and lights ON, AC check, 2x2 heatmap</a:t>
            </a:r>
            <a:endParaRPr lang="en-IN" sz="1300">
              <a:solidFill>
                <a:srgbClr val="1B2430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B359733-75C3-83D8-0131-AB64811EB98A}"/>
              </a:ext>
            </a:extLst>
          </p:cNvPr>
          <p:cNvSpPr/>
          <p:nvPr/>
        </p:nvSpPr>
        <p:spPr>
          <a:xfrm>
            <a:off x="6045200" y="2159000"/>
            <a:ext cx="5588000" cy="914400"/>
          </a:xfrm>
          <a:prstGeom prst="roundRect">
            <a:avLst>
              <a:gd name="adj" fmla="val 12000"/>
            </a:avLst>
          </a:prstGeom>
          <a:solidFill>
            <a:srgbClr val="E3F5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AA56F6E-2A89-2CCE-8136-275AA5D06593}"/>
              </a:ext>
            </a:extLst>
          </p:cNvPr>
          <p:cNvSpPr/>
          <p:nvPr/>
        </p:nvSpPr>
        <p:spPr>
          <a:xfrm>
            <a:off x="6223000" y="2400300"/>
            <a:ext cx="431800" cy="431800"/>
          </a:xfrm>
          <a:prstGeom prst="ellipse">
            <a:avLst/>
          </a:prstGeom>
          <a:solidFill>
            <a:srgbClr val="1453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Cambria" panose="02040503050406030204" pitchFamily="18" charset="0"/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C90FCB-604B-EAF2-1A5E-3E2FEDAA6062}"/>
              </a:ext>
            </a:extLst>
          </p:cNvPr>
          <p:cNvSpPr txBox="1"/>
          <p:nvPr/>
        </p:nvSpPr>
        <p:spPr>
          <a:xfrm>
            <a:off x="6832600" y="2286000"/>
            <a:ext cx="4622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14532D"/>
                </a:solidFill>
                <a:latin typeface="Cambria" panose="02040503050406030204" pitchFamily="18" charset="0"/>
              </a:rPr>
              <a:t>Alerts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67C329-02E4-A94E-D92E-AFA4052F169A}"/>
              </a:ext>
            </a:extLst>
          </p:cNvPr>
          <p:cNvSpPr txBox="1"/>
          <p:nvPr/>
        </p:nvSpPr>
        <p:spPr>
          <a:xfrm>
            <a:off x="6832600" y="2616200"/>
            <a:ext cx="462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1B2430"/>
                </a:solidFill>
                <a:latin typeface="Calibri" panose="020F0502020204030204" pitchFamily="34" charset="0"/>
              </a:rPr>
              <a:t>open alerts listed newest first; operator acknowledges with name and remarks</a:t>
            </a:r>
            <a:endParaRPr lang="en-IN" sz="1300">
              <a:solidFill>
                <a:srgbClr val="1B2430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C3D9D3A-3D89-C07F-531B-01138438CC80}"/>
              </a:ext>
            </a:extLst>
          </p:cNvPr>
          <p:cNvSpPr/>
          <p:nvPr/>
        </p:nvSpPr>
        <p:spPr>
          <a:xfrm>
            <a:off x="6045200" y="3200400"/>
            <a:ext cx="5588000" cy="914400"/>
          </a:xfrm>
          <a:prstGeom prst="roundRect">
            <a:avLst>
              <a:gd name="adj" fmla="val 12000"/>
            </a:avLst>
          </a:prstGeom>
          <a:solidFill>
            <a:srgbClr val="E3F5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071B8EE-36A3-877D-69A9-FE32BDE4930A}"/>
              </a:ext>
            </a:extLst>
          </p:cNvPr>
          <p:cNvSpPr/>
          <p:nvPr/>
        </p:nvSpPr>
        <p:spPr>
          <a:xfrm>
            <a:off x="6223000" y="3441700"/>
            <a:ext cx="431800" cy="431800"/>
          </a:xfrm>
          <a:prstGeom prst="ellipse">
            <a:avLst/>
          </a:prstGeom>
          <a:solidFill>
            <a:srgbClr val="1453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Cambria" panose="02040503050406030204" pitchFamily="18" charset="0"/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5EBFEE-7FB7-5DA1-C3E9-55BB3C0A2F83}"/>
              </a:ext>
            </a:extLst>
          </p:cNvPr>
          <p:cNvSpPr txBox="1"/>
          <p:nvPr/>
        </p:nvSpPr>
        <p:spPr>
          <a:xfrm>
            <a:off x="6832600" y="3327400"/>
            <a:ext cx="4622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14532D"/>
                </a:solidFill>
                <a:latin typeface="Cambria" panose="02040503050406030204" pitchFamily="18" charset="0"/>
              </a:rPr>
              <a:t>Manual override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8A99B8-A843-E098-0C9B-B7311604D7FF}"/>
              </a:ext>
            </a:extLst>
          </p:cNvPr>
          <p:cNvSpPr txBox="1"/>
          <p:nvPr/>
        </p:nvSpPr>
        <p:spPr>
          <a:xfrm>
            <a:off x="6832600" y="3657600"/>
            <a:ext cx="462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1B2430"/>
                </a:solidFill>
                <a:latin typeface="Calibri" panose="020F0502020204030204" pitchFamily="34" charset="0"/>
              </a:rPr>
              <a:t>fan or light ON/OFF queued for the ESP32, marked done when executed</a:t>
            </a:r>
            <a:endParaRPr lang="en-IN" sz="1300">
              <a:solidFill>
                <a:srgbClr val="1B2430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091B96C-8304-F866-52DF-454400F69629}"/>
              </a:ext>
            </a:extLst>
          </p:cNvPr>
          <p:cNvSpPr/>
          <p:nvPr/>
        </p:nvSpPr>
        <p:spPr>
          <a:xfrm>
            <a:off x="6045200" y="4241800"/>
            <a:ext cx="5588000" cy="914400"/>
          </a:xfrm>
          <a:prstGeom prst="roundRect">
            <a:avLst>
              <a:gd name="adj" fmla="val 12000"/>
            </a:avLst>
          </a:prstGeom>
          <a:solidFill>
            <a:srgbClr val="E3F5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8C462EB-DFFC-44A5-86BA-5E881ED00BEE}"/>
              </a:ext>
            </a:extLst>
          </p:cNvPr>
          <p:cNvSpPr/>
          <p:nvPr/>
        </p:nvSpPr>
        <p:spPr>
          <a:xfrm>
            <a:off x="6223000" y="4483100"/>
            <a:ext cx="431800" cy="431800"/>
          </a:xfrm>
          <a:prstGeom prst="ellipse">
            <a:avLst/>
          </a:prstGeom>
          <a:solidFill>
            <a:srgbClr val="1453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Cambria" panose="02040503050406030204" pitchFamily="18" charset="0"/>
              </a:rPr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9A373E-DF5E-90D3-8DCE-50CAA9832253}"/>
              </a:ext>
            </a:extLst>
          </p:cNvPr>
          <p:cNvSpPr txBox="1"/>
          <p:nvPr/>
        </p:nvSpPr>
        <p:spPr>
          <a:xfrm>
            <a:off x="6832600" y="4368800"/>
            <a:ext cx="4622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14532D"/>
                </a:solidFill>
                <a:latin typeface="Cambria" panose="02040503050406030204" pitchFamily="18" charset="0"/>
              </a:rPr>
              <a:t>Settings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63BB8AD-93E1-9143-E16D-A6BA3BE5BE11}"/>
              </a:ext>
            </a:extLst>
          </p:cNvPr>
          <p:cNvSpPr txBox="1"/>
          <p:nvPr/>
        </p:nvSpPr>
        <p:spPr>
          <a:xfrm>
            <a:off x="6832600" y="4699000"/>
            <a:ext cx="462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1B2430"/>
                </a:solidFill>
                <a:latin typeface="Calibri" panose="020F0502020204030204" pitchFamily="34" charset="0"/>
              </a:rPr>
              <a:t>vacancy frames, wait time and threshold, validated and stored in SQLite</a:t>
            </a:r>
            <a:endParaRPr lang="en-IN" sz="1300">
              <a:solidFill>
                <a:srgbClr val="1B2430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DAF50A2-CAB3-4391-5214-C507BDA01D7D}"/>
              </a:ext>
            </a:extLst>
          </p:cNvPr>
          <p:cNvSpPr/>
          <p:nvPr/>
        </p:nvSpPr>
        <p:spPr>
          <a:xfrm>
            <a:off x="6045200" y="5283200"/>
            <a:ext cx="5588000" cy="914400"/>
          </a:xfrm>
          <a:prstGeom prst="roundRect">
            <a:avLst>
              <a:gd name="adj" fmla="val 12000"/>
            </a:avLst>
          </a:prstGeom>
          <a:solidFill>
            <a:srgbClr val="E3F5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9123F5E-B509-6CC6-C3A4-5E99F3604C08}"/>
              </a:ext>
            </a:extLst>
          </p:cNvPr>
          <p:cNvSpPr/>
          <p:nvPr/>
        </p:nvSpPr>
        <p:spPr>
          <a:xfrm>
            <a:off x="6223000" y="5524500"/>
            <a:ext cx="431800" cy="431800"/>
          </a:xfrm>
          <a:prstGeom prst="ellipse">
            <a:avLst/>
          </a:prstGeom>
          <a:solidFill>
            <a:srgbClr val="1453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Cambria" panose="02040503050406030204" pitchFamily="18" charset="0"/>
              </a:rPr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4E15AD-7922-A3E8-CFE6-314EE9DA7EC1}"/>
              </a:ext>
            </a:extLst>
          </p:cNvPr>
          <p:cNvSpPr txBox="1"/>
          <p:nvPr/>
        </p:nvSpPr>
        <p:spPr>
          <a:xfrm>
            <a:off x="6832600" y="5410200"/>
            <a:ext cx="4622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14532D"/>
                </a:solidFill>
                <a:latin typeface="Cambria" panose="02040503050406030204" pitchFamily="18" charset="0"/>
              </a:rPr>
              <a:t>REST API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D65821-4A2B-5BA9-137D-011ED2EA2082}"/>
              </a:ext>
            </a:extLst>
          </p:cNvPr>
          <p:cNvSpPr txBox="1"/>
          <p:nvPr/>
        </p:nvSpPr>
        <p:spPr>
          <a:xfrm>
            <a:off x="6832600" y="5740400"/>
            <a:ext cx="462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1B2430"/>
                </a:solidFill>
                <a:latin typeface="Calibri" panose="020F0502020204030204" pitchFamily="34" charset="0"/>
              </a:rPr>
              <a:t>/api/readings, /alerts, /override, /commands, /settings</a:t>
            </a:r>
            <a:endParaRPr lang="en-IN" sz="1300">
              <a:solidFill>
                <a:srgbClr val="1B2430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C079AD2-84E0-D8DE-0698-0314FB6A9EFF}"/>
              </a:ext>
            </a:extLst>
          </p:cNvPr>
          <p:cNvSpPr txBox="1"/>
          <p:nvPr/>
        </p:nvSpPr>
        <p:spPr>
          <a:xfrm>
            <a:off x="558800" y="65278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5D6676"/>
                </a:solidFill>
                <a:latin typeface="Calibri" panose="020F0502020204030204" pitchFamily="34" charset="0"/>
              </a:rPr>
              <a:t>Smart Classroom Electricity Management · SE Lab PBL · Vineet Shah</a:t>
            </a:r>
            <a:endParaRPr lang="en-IN" sz="1000">
              <a:solidFill>
                <a:srgbClr val="5D6676"/>
              </a:solidFill>
              <a:latin typeface="Calibri" panose="020F05020202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1C77F04-4077-4BF3-5590-39663DF869E0}"/>
              </a:ext>
            </a:extLst>
          </p:cNvPr>
          <p:cNvSpPr txBox="1"/>
          <p:nvPr/>
        </p:nvSpPr>
        <p:spPr>
          <a:xfrm>
            <a:off x="10871200" y="65278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1000">
                <a:solidFill>
                  <a:srgbClr val="5D6676"/>
                </a:solidFill>
                <a:latin typeface="Calibri" panose="020F050202020403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064679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49655BA-4B6D-9C46-B217-D3102FBC5E63}"/>
              </a:ext>
            </a:extLst>
          </p:cNvPr>
          <p:cNvSpPr txBox="1"/>
          <p:nvPr/>
        </p:nvSpPr>
        <p:spPr>
          <a:xfrm>
            <a:off x="558800" y="330200"/>
            <a:ext cx="1107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3200" b="1">
                <a:solidFill>
                  <a:srgbClr val="14532D"/>
                </a:solidFill>
                <a:latin typeface="Cambria" panose="02040503050406030204" pitchFamily="18" charset="0"/>
              </a:rPr>
              <a:t>Managed in Jira · space SCEM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A37FF90-9B40-2FA0-9101-FD418548C58B}"/>
              </a:ext>
            </a:extLst>
          </p:cNvPr>
          <p:cNvSpPr/>
          <p:nvPr/>
        </p:nvSpPr>
        <p:spPr>
          <a:xfrm>
            <a:off x="558800" y="1320800"/>
            <a:ext cx="1905000" cy="1422400"/>
          </a:xfrm>
          <a:prstGeom prst="roundRect">
            <a:avLst>
              <a:gd name="adj" fmla="val 12000"/>
            </a:avLst>
          </a:prstGeom>
          <a:solidFill>
            <a:srgbClr val="E3F5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7DAE19-A009-8F76-9B28-3D6D62931200}"/>
              </a:ext>
            </a:extLst>
          </p:cNvPr>
          <p:cNvSpPr txBox="1"/>
          <p:nvPr/>
        </p:nvSpPr>
        <p:spPr>
          <a:xfrm>
            <a:off x="558800" y="14478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3600" b="1">
                <a:solidFill>
                  <a:srgbClr val="14532D"/>
                </a:solidFill>
                <a:latin typeface="Cambria" panose="02040503050406030204" pitchFamily="18" charset="0"/>
              </a:rPr>
              <a:t>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3D8C3F-F6EF-A1AD-C60D-BF25CF7CE0AE}"/>
              </a:ext>
            </a:extLst>
          </p:cNvPr>
          <p:cNvSpPr txBox="1"/>
          <p:nvPr/>
        </p:nvSpPr>
        <p:spPr>
          <a:xfrm>
            <a:off x="660400" y="2202688"/>
            <a:ext cx="1701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300">
                <a:solidFill>
                  <a:srgbClr val="1B2430"/>
                </a:solidFill>
                <a:latin typeface="Calibri" panose="020F0502020204030204" pitchFamily="34" charset="0"/>
              </a:rPr>
              <a:t>epics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02116B2-FCEF-6A21-8DE5-2D5C152B0480}"/>
              </a:ext>
            </a:extLst>
          </p:cNvPr>
          <p:cNvSpPr/>
          <p:nvPr/>
        </p:nvSpPr>
        <p:spPr>
          <a:xfrm>
            <a:off x="2641600" y="1320800"/>
            <a:ext cx="1905000" cy="1422400"/>
          </a:xfrm>
          <a:prstGeom prst="roundRect">
            <a:avLst>
              <a:gd name="adj" fmla="val 12000"/>
            </a:avLst>
          </a:prstGeom>
          <a:solidFill>
            <a:srgbClr val="E3F5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817233-A261-5DED-75A7-5975AB36E396}"/>
              </a:ext>
            </a:extLst>
          </p:cNvPr>
          <p:cNvSpPr txBox="1"/>
          <p:nvPr/>
        </p:nvSpPr>
        <p:spPr>
          <a:xfrm>
            <a:off x="2641600" y="14478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3600" b="1">
                <a:solidFill>
                  <a:srgbClr val="14532D"/>
                </a:solidFill>
                <a:latin typeface="Cambria" panose="02040503050406030204" pitchFamily="18" charset="0"/>
              </a:rPr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9EAFD6-3530-6A6E-DDFC-9DA78906A3CE}"/>
              </a:ext>
            </a:extLst>
          </p:cNvPr>
          <p:cNvSpPr txBox="1"/>
          <p:nvPr/>
        </p:nvSpPr>
        <p:spPr>
          <a:xfrm>
            <a:off x="2743200" y="2202688"/>
            <a:ext cx="1701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300">
                <a:solidFill>
                  <a:srgbClr val="1B2430"/>
                </a:solidFill>
                <a:latin typeface="Calibri" panose="020F0502020204030204" pitchFamily="34" charset="0"/>
              </a:rPr>
              <a:t>user stories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2F6F9F8-9A9A-208F-999F-E2FCBDB21B82}"/>
              </a:ext>
            </a:extLst>
          </p:cNvPr>
          <p:cNvSpPr/>
          <p:nvPr/>
        </p:nvSpPr>
        <p:spPr>
          <a:xfrm>
            <a:off x="4724400" y="1320800"/>
            <a:ext cx="1905000" cy="1422400"/>
          </a:xfrm>
          <a:prstGeom prst="roundRect">
            <a:avLst>
              <a:gd name="adj" fmla="val 12000"/>
            </a:avLst>
          </a:prstGeom>
          <a:solidFill>
            <a:srgbClr val="E3F5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A7F84A-D620-C4BE-074F-24B04518484A}"/>
              </a:ext>
            </a:extLst>
          </p:cNvPr>
          <p:cNvSpPr txBox="1"/>
          <p:nvPr/>
        </p:nvSpPr>
        <p:spPr>
          <a:xfrm>
            <a:off x="4724400" y="14478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3600" b="1">
                <a:solidFill>
                  <a:srgbClr val="14532D"/>
                </a:solidFill>
                <a:latin typeface="Cambria" panose="02040503050406030204" pitchFamily="18" charset="0"/>
              </a:rPr>
              <a:t>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11CC1C-93D5-7012-2688-39B3D4BB1B1E}"/>
              </a:ext>
            </a:extLst>
          </p:cNvPr>
          <p:cNvSpPr txBox="1"/>
          <p:nvPr/>
        </p:nvSpPr>
        <p:spPr>
          <a:xfrm>
            <a:off x="4826000" y="2202688"/>
            <a:ext cx="1701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300">
                <a:solidFill>
                  <a:srgbClr val="1B2430"/>
                </a:solidFill>
                <a:latin typeface="Calibri" panose="020F0502020204030204" pitchFamily="34" charset="0"/>
              </a:rPr>
              <a:t>tasks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290A091-54F0-4DBC-2C5D-81CB4D3DD8AF}"/>
              </a:ext>
            </a:extLst>
          </p:cNvPr>
          <p:cNvSpPr/>
          <p:nvPr/>
        </p:nvSpPr>
        <p:spPr>
          <a:xfrm>
            <a:off x="558800" y="2946400"/>
            <a:ext cx="1905000" cy="1422400"/>
          </a:xfrm>
          <a:prstGeom prst="roundRect">
            <a:avLst>
              <a:gd name="adj" fmla="val 12000"/>
            </a:avLst>
          </a:prstGeom>
          <a:solidFill>
            <a:srgbClr val="E3F5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FAA04C-8012-08C8-ED84-B7D4C73AE50D}"/>
              </a:ext>
            </a:extLst>
          </p:cNvPr>
          <p:cNvSpPr txBox="1"/>
          <p:nvPr/>
        </p:nvSpPr>
        <p:spPr>
          <a:xfrm>
            <a:off x="558800" y="30734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3600" b="1">
                <a:solidFill>
                  <a:srgbClr val="14532D"/>
                </a:solidFill>
                <a:latin typeface="Cambria" panose="02040503050406030204" pitchFamily="18" charset="0"/>
              </a:rPr>
              <a:t>18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B486DB-14F1-B216-B2AA-37E54EAA61D6}"/>
              </a:ext>
            </a:extLst>
          </p:cNvPr>
          <p:cNvSpPr txBox="1"/>
          <p:nvPr/>
        </p:nvSpPr>
        <p:spPr>
          <a:xfrm>
            <a:off x="660400" y="3828288"/>
            <a:ext cx="1701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300">
                <a:solidFill>
                  <a:srgbClr val="1B2430"/>
                </a:solidFill>
                <a:latin typeface="Calibri" panose="020F0502020204030204" pitchFamily="34" charset="0"/>
              </a:rPr>
              <a:t>subtasks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0295583-001A-B44F-D532-E9A8AC721884}"/>
              </a:ext>
            </a:extLst>
          </p:cNvPr>
          <p:cNvSpPr/>
          <p:nvPr/>
        </p:nvSpPr>
        <p:spPr>
          <a:xfrm>
            <a:off x="2641600" y="2946400"/>
            <a:ext cx="1905000" cy="1422400"/>
          </a:xfrm>
          <a:prstGeom prst="roundRect">
            <a:avLst>
              <a:gd name="adj" fmla="val 12000"/>
            </a:avLst>
          </a:prstGeom>
          <a:solidFill>
            <a:srgbClr val="FFF7E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843AD9-48CF-EB99-F064-8BBC00632B29}"/>
              </a:ext>
            </a:extLst>
          </p:cNvPr>
          <p:cNvSpPr txBox="1"/>
          <p:nvPr/>
        </p:nvSpPr>
        <p:spPr>
          <a:xfrm>
            <a:off x="2641600" y="30734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3600" b="1">
                <a:solidFill>
                  <a:srgbClr val="F59E0B"/>
                </a:solidFill>
                <a:latin typeface="Cambria" panose="02040503050406030204" pitchFamily="18" charset="0"/>
              </a:rPr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5D287F-EF73-6C00-808F-3079F813F9E9}"/>
              </a:ext>
            </a:extLst>
          </p:cNvPr>
          <p:cNvSpPr txBox="1"/>
          <p:nvPr/>
        </p:nvSpPr>
        <p:spPr>
          <a:xfrm>
            <a:off x="2743200" y="3828288"/>
            <a:ext cx="1701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300">
                <a:solidFill>
                  <a:srgbClr val="1B2430"/>
                </a:solidFill>
                <a:latin typeface="Calibri" panose="020F0502020204030204" pitchFamily="34" charset="0"/>
              </a:rPr>
              <a:t>bugs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1407D6B-E536-EAB1-686E-314D6D770F5D}"/>
              </a:ext>
            </a:extLst>
          </p:cNvPr>
          <p:cNvSpPr/>
          <p:nvPr/>
        </p:nvSpPr>
        <p:spPr>
          <a:xfrm>
            <a:off x="4724400" y="2946400"/>
            <a:ext cx="1905000" cy="1422400"/>
          </a:xfrm>
          <a:prstGeom prst="roundRect">
            <a:avLst>
              <a:gd name="adj" fmla="val 12000"/>
            </a:avLst>
          </a:prstGeom>
          <a:solidFill>
            <a:srgbClr val="E3F5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E2BDDAD-50A5-BD91-16D3-07E25299C01C}"/>
              </a:ext>
            </a:extLst>
          </p:cNvPr>
          <p:cNvSpPr txBox="1"/>
          <p:nvPr/>
        </p:nvSpPr>
        <p:spPr>
          <a:xfrm>
            <a:off x="4724400" y="30734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3600" b="1">
                <a:solidFill>
                  <a:srgbClr val="14532D"/>
                </a:solidFill>
                <a:latin typeface="Cambria" panose="02040503050406030204" pitchFamily="18" charset="0"/>
              </a:rPr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38008A-8F09-AD75-9B07-3E7AFF722B55}"/>
              </a:ext>
            </a:extLst>
          </p:cNvPr>
          <p:cNvSpPr txBox="1"/>
          <p:nvPr/>
        </p:nvSpPr>
        <p:spPr>
          <a:xfrm>
            <a:off x="4826000" y="3828288"/>
            <a:ext cx="1701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300">
                <a:solidFill>
                  <a:srgbClr val="1B2430"/>
                </a:solidFill>
                <a:latin typeface="Calibri" panose="020F0502020204030204" pitchFamily="34" charset="0"/>
              </a:rPr>
              <a:t>sprints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532E25-B217-7B3F-F7B7-C7A2228F58B8}"/>
              </a:ext>
            </a:extLst>
          </p:cNvPr>
          <p:cNvSpPr txBox="1"/>
          <p:nvPr/>
        </p:nvSpPr>
        <p:spPr>
          <a:xfrm>
            <a:off x="558800" y="4597400"/>
            <a:ext cx="6070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en-US" sz="1400">
                <a:solidFill>
                  <a:srgbClr val="1B2430"/>
                </a:solidFill>
                <a:latin typeface="Calibri" panose="020F0502020204030204" pitchFamily="34" charset="0"/>
              </a:rPr>
              <a:t>Epic -&gt; Story / Task / Bug -&gt; Subtask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en-US" sz="1400">
                <a:solidFill>
                  <a:srgbClr val="1B2430"/>
                </a:solidFill>
                <a:latin typeface="Calibri" panose="020F0502020204030204" pitchFamily="34" charset="0"/>
              </a:rPr>
              <a:t>Backlog imported from jira/jira_import.csv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en-US" sz="1400">
                <a:solidFill>
                  <a:srgbClr val="1B2430"/>
                </a:solidFill>
                <a:latin typeface="Calibri" panose="020F0502020204030204" pitchFamily="34" charset="0"/>
              </a:rPr>
              <a:t>Workflow: To Do -&gt; In Progress -&gt; Done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en-US" sz="1400">
                <a:solidFill>
                  <a:srgbClr val="1B2430"/>
                </a:solidFill>
                <a:latin typeface="Calibri" panose="020F0502020204030204" pitchFamily="34" charset="0"/>
              </a:rPr>
              <a:t>Each bug carries steps, severity, priority and a fix + retest comment</a:t>
            </a:r>
            <a:endParaRPr lang="en-IN" sz="1400">
              <a:solidFill>
                <a:srgbClr val="1B2430"/>
              </a:solidFill>
              <a:latin typeface="Calibri" panose="020F0502020204030204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955C7E0-99B1-497D-85B0-BD69D897201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5732" y="1066800"/>
            <a:ext cx="4562937" cy="5257800"/>
          </a:xfrm>
          <a:prstGeom prst="rect">
            <a:avLst/>
          </a:prstGeom>
          <a:ln w="9525">
            <a:solidFill>
              <a:srgbClr val="D7DCE4"/>
            </a:solidFill>
          </a:ln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DEA208F-8F1F-6889-C102-7A690E1A198A}"/>
              </a:ext>
            </a:extLst>
          </p:cNvPr>
          <p:cNvSpPr txBox="1"/>
          <p:nvPr/>
        </p:nvSpPr>
        <p:spPr>
          <a:xfrm>
            <a:off x="558800" y="65278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5D6676"/>
                </a:solidFill>
                <a:latin typeface="Calibri" panose="020F0502020204030204" pitchFamily="34" charset="0"/>
              </a:rPr>
              <a:t>Smart Classroom Electricity Management · SE Lab PBL · Vineet Shah</a:t>
            </a:r>
            <a:endParaRPr lang="en-IN" sz="1000">
              <a:solidFill>
                <a:srgbClr val="5D6676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78063A4-F736-0BFD-C896-28E5472608F5}"/>
              </a:ext>
            </a:extLst>
          </p:cNvPr>
          <p:cNvSpPr txBox="1"/>
          <p:nvPr/>
        </p:nvSpPr>
        <p:spPr>
          <a:xfrm>
            <a:off x="10871200" y="65278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1000">
                <a:solidFill>
                  <a:srgbClr val="5D6676"/>
                </a:solidFill>
                <a:latin typeface="Calibri" panose="020F0502020204030204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42516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9BA15BD-ECCD-8249-A5D5-4B27A3FFC7E1}"/>
              </a:ext>
            </a:extLst>
          </p:cNvPr>
          <p:cNvSpPr txBox="1"/>
          <p:nvPr/>
        </p:nvSpPr>
        <p:spPr>
          <a:xfrm>
            <a:off x="558800" y="330200"/>
            <a:ext cx="1107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200" b="1">
                <a:solidFill>
                  <a:srgbClr val="14532D"/>
                </a:solidFill>
                <a:latin typeface="Cambria" panose="02040503050406030204" pitchFamily="18" charset="0"/>
              </a:rPr>
              <a:t>Three sprints, tracked to Done</a:t>
            </a:r>
            <a:endParaRPr lang="en-IN" sz="3200" b="1">
              <a:solidFill>
                <a:srgbClr val="14532D"/>
              </a:solidFill>
              <a:latin typeface="Cambria" panose="020405030504060302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5C4A900-3CB5-7AC0-1A79-740BA17B1C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289765"/>
              </p:ext>
            </p:extLst>
          </p:nvPr>
        </p:nvGraphicFramePr>
        <p:xfrm>
          <a:off x="558800" y="1270000"/>
          <a:ext cx="6604000" cy="20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409824541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1990151841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321909477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527312781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923633528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IN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Sprint</a:t>
                      </a:r>
                    </a:p>
                  </a:txBody>
                  <a:tcPr marL="76200" marR="76200"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Goal</a:t>
                      </a:r>
                    </a:p>
                  </a:txBody>
                  <a:tcPr marL="76200" marR="76200"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Items</a:t>
                      </a:r>
                    </a:p>
                  </a:txBody>
                  <a:tcPr marL="76200" marR="76200"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Points</a:t>
                      </a:r>
                    </a:p>
                  </a:txBody>
                  <a:tcPr marL="76200" marR="76200"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State</a:t>
                      </a:r>
                    </a:p>
                  </a:txBody>
                  <a:tcPr marL="76200" marR="76200">
                    <a:solidFill>
                      <a:srgbClr val="145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854565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IN" sz="1300" b="1">
                          <a:solidFill>
                            <a:srgbClr val="1B2430"/>
                          </a:solidFill>
                          <a:latin typeface="Calibri" panose="020F0502020204030204" pitchFamily="34" charset="0"/>
                        </a:rPr>
                        <a:t>SCEM Sprint 1
25-10 19:30-19:50</a:t>
                      </a:r>
                    </a:p>
                  </a:txBody>
                  <a:tcPr marL="76200" marR="76200">
                    <a:solidFill>
                      <a:srgbClr val="F2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</a:rPr>
                        <a:t>Detection engine (Module 1) and requirements</a:t>
                      </a:r>
                      <a:endParaRPr lang="en-IN" sz="1300" b="0">
                        <a:solidFill>
                          <a:srgbClr val="1B2430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>
                    <a:solidFill>
                      <a:srgbClr val="F2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76200" marR="76200">
                    <a:solidFill>
                      <a:srgbClr val="F2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76200" marR="76200">
                    <a:solidFill>
                      <a:srgbClr val="F2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0">
                          <a:solidFill>
                            <a:srgbClr val="166534"/>
                          </a:solidFill>
                          <a:latin typeface="Calibri" panose="020F0502020204030204" pitchFamily="34" charset="0"/>
                        </a:rPr>
                        <a:t>Completed</a:t>
                      </a:r>
                    </a:p>
                  </a:txBody>
                  <a:tcPr marL="76200" marR="76200">
                    <a:solidFill>
                      <a:srgbClr val="F2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18282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IN" sz="1300" b="1">
                          <a:solidFill>
                            <a:srgbClr val="1B2430"/>
                          </a:solidFill>
                          <a:latin typeface="Calibri" panose="020F0502020204030204" pitchFamily="34" charset="0"/>
                        </a:rPr>
                        <a:t>SCEM Sprint 2
25-10 19:50-20:00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</a:rPr>
                        <a:t>Dashboard, API, database and simulator (Module 2)</a:t>
                      </a:r>
                      <a:endParaRPr lang="en-IN" sz="1300" b="0">
                        <a:solidFill>
                          <a:srgbClr val="1B2430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0">
                          <a:solidFill>
                            <a:srgbClr val="166534"/>
                          </a:solidFill>
                          <a:latin typeface="Calibri" panose="020F0502020204030204" pitchFamily="34" charset="0"/>
                        </a:rPr>
                        <a:t>Completed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26881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IN" sz="1300" b="1">
                          <a:solidFill>
                            <a:srgbClr val="1B2430"/>
                          </a:solidFill>
                          <a:latin typeface="Calibri" panose="020F0502020204030204" pitchFamily="34" charset="0"/>
                        </a:rPr>
                        <a:t>SCEM Sprint 3
25-10 20:00 - 01-11</a:t>
                      </a:r>
                    </a:p>
                  </a:txBody>
                  <a:tcPr marL="76200" marR="76200">
                    <a:solidFill>
                      <a:srgbClr val="F2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</a:rPr>
                        <a:t>Testing, bug fixing and documentation</a:t>
                      </a:r>
                      <a:endParaRPr lang="en-IN" sz="1300" b="0">
                        <a:solidFill>
                          <a:srgbClr val="1B2430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>
                    <a:solidFill>
                      <a:srgbClr val="F2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76200" marR="76200">
                    <a:solidFill>
                      <a:srgbClr val="F2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0">
                          <a:solidFill>
                            <a:srgbClr val="1B2430"/>
                          </a:solidFill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76200" marR="76200">
                    <a:solidFill>
                      <a:srgbClr val="F2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0">
                          <a:solidFill>
                            <a:srgbClr val="F59E0B"/>
                          </a:solidFill>
                          <a:latin typeface="Calibri" panose="020F0502020204030204" pitchFamily="34" charset="0"/>
                        </a:rPr>
                        <a:t>Active</a:t>
                      </a:r>
                    </a:p>
                  </a:txBody>
                  <a:tcPr marL="76200" marR="76200">
                    <a:solidFill>
                      <a:srgbClr val="F2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51477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11585C4-3B43-FFD5-4A83-30A6953FFC48}"/>
              </a:ext>
            </a:extLst>
          </p:cNvPr>
          <p:cNvSpPr txBox="1"/>
          <p:nvPr/>
        </p:nvSpPr>
        <p:spPr>
          <a:xfrm>
            <a:off x="558800" y="34290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5D6676"/>
                </a:solidFill>
                <a:latin typeface="Calibri" panose="020F0502020204030204" pitchFamily="34" charset="0"/>
              </a:rPr>
              <a:t>Sprint 3 holds the testing tasks and the four bugs; the report and presentation task stays In Progress until submission.</a:t>
            </a:r>
            <a:endParaRPr lang="en-IN" sz="1300">
              <a:solidFill>
                <a:srgbClr val="5D6676"/>
              </a:solidFill>
              <a:latin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694DAA-1820-C45A-CFAA-2D78D972C97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3200" y="1500599"/>
            <a:ext cx="3810000" cy="4390203"/>
          </a:xfrm>
          <a:prstGeom prst="rect">
            <a:avLst/>
          </a:prstGeom>
          <a:ln w="9525">
            <a:solidFill>
              <a:srgbClr val="D7DCE4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94A9D7-EDED-0AEE-53A3-B9A4C795FF2C}"/>
              </a:ext>
            </a:extLst>
          </p:cNvPr>
          <p:cNvSpPr txBox="1"/>
          <p:nvPr/>
        </p:nvSpPr>
        <p:spPr>
          <a:xfrm>
            <a:off x="558800" y="65278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5D6676"/>
                </a:solidFill>
                <a:latin typeface="Calibri" panose="020F0502020204030204" pitchFamily="34" charset="0"/>
              </a:rPr>
              <a:t>Smart Classroom Electricity Management · SE Lab PBL · Vineet Shah</a:t>
            </a:r>
            <a:endParaRPr lang="en-IN" sz="1000">
              <a:solidFill>
                <a:srgbClr val="5D6676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46624B-34C2-3F10-C33E-D32E04BC51E9}"/>
              </a:ext>
            </a:extLst>
          </p:cNvPr>
          <p:cNvSpPr txBox="1"/>
          <p:nvPr/>
        </p:nvSpPr>
        <p:spPr>
          <a:xfrm>
            <a:off x="10871200" y="65278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1000">
                <a:solidFill>
                  <a:srgbClr val="5D6676"/>
                </a:solidFill>
                <a:latin typeface="Calibri" panose="020F0502020204030204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787393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73B1DA5-C21F-B026-6442-8A9645EAF913}"/>
              </a:ext>
            </a:extLst>
          </p:cNvPr>
          <p:cNvSpPr txBox="1"/>
          <p:nvPr/>
        </p:nvSpPr>
        <p:spPr>
          <a:xfrm>
            <a:off x="558800" y="330200"/>
            <a:ext cx="1107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3200" b="1">
                <a:solidFill>
                  <a:srgbClr val="14532D"/>
                </a:solidFill>
                <a:latin typeface="Cambria" panose="02040503050406030204" pitchFamily="18" charset="0"/>
              </a:rPr>
              <a:t>78 automated test cases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D68AB9-3EB8-E2F0-0DE1-45547BE09410}"/>
              </a:ext>
            </a:extLst>
          </p:cNvPr>
          <p:cNvSpPr/>
          <p:nvPr/>
        </p:nvSpPr>
        <p:spPr>
          <a:xfrm>
            <a:off x="558800" y="1219200"/>
            <a:ext cx="2616200" cy="1625600"/>
          </a:xfrm>
          <a:prstGeom prst="roundRect">
            <a:avLst>
              <a:gd name="adj" fmla="val 12000"/>
            </a:avLst>
          </a:prstGeom>
          <a:solidFill>
            <a:srgbClr val="E3F5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4C84E4-4171-FBBA-DC92-DF133B8D72D1}"/>
              </a:ext>
            </a:extLst>
          </p:cNvPr>
          <p:cNvSpPr txBox="1"/>
          <p:nvPr/>
        </p:nvSpPr>
        <p:spPr>
          <a:xfrm>
            <a:off x="558800" y="1346200"/>
            <a:ext cx="2616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4000" b="1">
                <a:solidFill>
                  <a:srgbClr val="14532D"/>
                </a:solidFill>
                <a:latin typeface="Cambria" panose="02040503050406030204" pitchFamily="18" charset="0"/>
              </a:rPr>
              <a:t>32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559AC2-8CFE-5C23-B27D-381568F2F85E}"/>
              </a:ext>
            </a:extLst>
          </p:cNvPr>
          <p:cNvSpPr txBox="1"/>
          <p:nvPr/>
        </p:nvSpPr>
        <p:spPr>
          <a:xfrm>
            <a:off x="660400" y="2227072"/>
            <a:ext cx="2413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300">
                <a:solidFill>
                  <a:srgbClr val="1B2430"/>
                </a:solidFill>
                <a:latin typeface="Calibri" panose="020F0502020204030204" pitchFamily="34" charset="0"/>
              </a:rPr>
              <a:t>Unit tests
engine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315BB3F-94D0-638A-495D-1995DF75A017}"/>
              </a:ext>
            </a:extLst>
          </p:cNvPr>
          <p:cNvSpPr/>
          <p:nvPr/>
        </p:nvSpPr>
        <p:spPr>
          <a:xfrm>
            <a:off x="3378200" y="1219200"/>
            <a:ext cx="2616200" cy="1625600"/>
          </a:xfrm>
          <a:prstGeom prst="roundRect">
            <a:avLst>
              <a:gd name="adj" fmla="val 12000"/>
            </a:avLst>
          </a:prstGeom>
          <a:solidFill>
            <a:srgbClr val="E3F5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E17305-4B05-88FA-97B2-40F92AB569B5}"/>
              </a:ext>
            </a:extLst>
          </p:cNvPr>
          <p:cNvSpPr txBox="1"/>
          <p:nvPr/>
        </p:nvSpPr>
        <p:spPr>
          <a:xfrm>
            <a:off x="3378200" y="1346200"/>
            <a:ext cx="2616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4000" b="1">
                <a:solidFill>
                  <a:srgbClr val="14532D"/>
                </a:solidFill>
                <a:latin typeface="Cambria" panose="02040503050406030204" pitchFamily="18" charset="0"/>
              </a:rPr>
              <a:t>24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2DE3E1-6C32-7EF3-8FC9-EAE9C8EE727C}"/>
              </a:ext>
            </a:extLst>
          </p:cNvPr>
          <p:cNvSpPr txBox="1"/>
          <p:nvPr/>
        </p:nvSpPr>
        <p:spPr>
          <a:xfrm>
            <a:off x="3479800" y="2227072"/>
            <a:ext cx="2413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300">
                <a:solidFill>
                  <a:srgbClr val="1B2430"/>
                </a:solidFill>
                <a:latin typeface="Calibri" panose="020F0502020204030204" pitchFamily="34" charset="0"/>
              </a:rPr>
              <a:t>API tests
server + DB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6DBD9E9-C688-8C15-FCCC-A56BF44146FF}"/>
              </a:ext>
            </a:extLst>
          </p:cNvPr>
          <p:cNvSpPr/>
          <p:nvPr/>
        </p:nvSpPr>
        <p:spPr>
          <a:xfrm>
            <a:off x="6197600" y="1219200"/>
            <a:ext cx="2616200" cy="1625600"/>
          </a:xfrm>
          <a:prstGeom prst="roundRect">
            <a:avLst>
              <a:gd name="adj" fmla="val 12000"/>
            </a:avLst>
          </a:prstGeom>
          <a:solidFill>
            <a:srgbClr val="E3F5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E37890-D1E3-AED4-0CF8-5AA3E878AF80}"/>
              </a:ext>
            </a:extLst>
          </p:cNvPr>
          <p:cNvSpPr txBox="1"/>
          <p:nvPr/>
        </p:nvSpPr>
        <p:spPr>
          <a:xfrm>
            <a:off x="6197600" y="1346200"/>
            <a:ext cx="2616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4000" b="1">
                <a:solidFill>
                  <a:srgbClr val="14532D"/>
                </a:solidFill>
                <a:latin typeface="Cambria" panose="02040503050406030204" pitchFamily="18" charset="0"/>
              </a:rPr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D8987E-90A1-CD80-0D70-C3D525F67C6E}"/>
              </a:ext>
            </a:extLst>
          </p:cNvPr>
          <p:cNvSpPr txBox="1"/>
          <p:nvPr/>
        </p:nvSpPr>
        <p:spPr>
          <a:xfrm>
            <a:off x="6299200" y="2227072"/>
            <a:ext cx="2413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300">
                <a:solidFill>
                  <a:srgbClr val="1B2430"/>
                </a:solidFill>
                <a:latin typeface="Calibri" panose="020F0502020204030204" pitchFamily="34" charset="0"/>
              </a:rPr>
              <a:t>Integration
end to end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86EE53E-E2CD-B020-BFB1-CF2D852C510B}"/>
              </a:ext>
            </a:extLst>
          </p:cNvPr>
          <p:cNvSpPr/>
          <p:nvPr/>
        </p:nvSpPr>
        <p:spPr>
          <a:xfrm>
            <a:off x="9017000" y="1219200"/>
            <a:ext cx="2616200" cy="1625600"/>
          </a:xfrm>
          <a:prstGeom prst="roundRect">
            <a:avLst>
              <a:gd name="adj" fmla="val 12000"/>
            </a:avLst>
          </a:prstGeom>
          <a:solidFill>
            <a:srgbClr val="E3F5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AE3F2A-6DC1-6A4E-E64F-D10AD50F2856}"/>
              </a:ext>
            </a:extLst>
          </p:cNvPr>
          <p:cNvSpPr txBox="1"/>
          <p:nvPr/>
        </p:nvSpPr>
        <p:spPr>
          <a:xfrm>
            <a:off x="9017000" y="1346200"/>
            <a:ext cx="2616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4000" b="1">
                <a:solidFill>
                  <a:srgbClr val="14532D"/>
                </a:solidFill>
                <a:latin typeface="Cambria" panose="02040503050406030204" pitchFamily="18" charset="0"/>
              </a:rPr>
              <a:t>15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CA1A32-4CCB-2244-CE8C-25FE3EB3939E}"/>
              </a:ext>
            </a:extLst>
          </p:cNvPr>
          <p:cNvSpPr txBox="1"/>
          <p:nvPr/>
        </p:nvSpPr>
        <p:spPr>
          <a:xfrm>
            <a:off x="9118600" y="2227072"/>
            <a:ext cx="2413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300">
                <a:solidFill>
                  <a:srgbClr val="1B2430"/>
                </a:solidFill>
                <a:latin typeface="Calibri" panose="020F0502020204030204" pitchFamily="34" charset="0"/>
              </a:rPr>
              <a:t>UI tests
in Edge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0DD0D2A-BE58-72BB-D13F-82ECE3F394F3}"/>
              </a:ext>
            </a:extLst>
          </p:cNvPr>
          <p:cNvSpPr/>
          <p:nvPr/>
        </p:nvSpPr>
        <p:spPr>
          <a:xfrm>
            <a:off x="558800" y="3175000"/>
            <a:ext cx="355600" cy="355600"/>
          </a:xfrm>
          <a:prstGeom prst="ellipse">
            <a:avLst/>
          </a:prstGeom>
          <a:solidFill>
            <a:srgbClr val="1453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300" b="1">
                <a:solidFill>
                  <a:srgbClr val="FFFFFF"/>
                </a:solidFill>
                <a:latin typeface="Cambria" panose="02040503050406030204" pitchFamily="18" charset="0"/>
              </a:rPr>
              <a:t>✓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29729F-2CF3-6B22-93F6-F894948443C0}"/>
              </a:ext>
            </a:extLst>
          </p:cNvPr>
          <p:cNvSpPr txBox="1"/>
          <p:nvPr/>
        </p:nvSpPr>
        <p:spPr>
          <a:xfrm>
            <a:off x="1066800" y="3200400"/>
            <a:ext cx="330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14532D"/>
                </a:solidFill>
                <a:latin typeface="Cambria" panose="02040503050406030204" pitchFamily="18" charset="0"/>
              </a:rPr>
              <a:t>Functional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C55D7F-8B92-ADE2-1DB3-BB60B461A0BE}"/>
              </a:ext>
            </a:extLst>
          </p:cNvPr>
          <p:cNvSpPr txBox="1"/>
          <p:nvPr/>
        </p:nvSpPr>
        <p:spPr>
          <a:xfrm>
            <a:off x="4368800" y="3225800"/>
            <a:ext cx="726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1B2430"/>
                </a:solidFill>
                <a:latin typeface="Calibri" panose="020F0502020204030204" pitchFamily="34" charset="0"/>
              </a:rPr>
              <a:t>every requirement checked through its output</a:t>
            </a:r>
            <a:endParaRPr lang="en-IN" sz="1400">
              <a:solidFill>
                <a:srgbClr val="1B2430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D49AA70-2380-4B27-1A5F-70E0D8A1F355}"/>
              </a:ext>
            </a:extLst>
          </p:cNvPr>
          <p:cNvSpPr/>
          <p:nvPr/>
        </p:nvSpPr>
        <p:spPr>
          <a:xfrm>
            <a:off x="558800" y="3759200"/>
            <a:ext cx="355600" cy="355600"/>
          </a:xfrm>
          <a:prstGeom prst="ellipse">
            <a:avLst/>
          </a:prstGeom>
          <a:solidFill>
            <a:srgbClr val="1453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300" b="1">
                <a:solidFill>
                  <a:srgbClr val="FFFFFF"/>
                </a:solidFill>
                <a:latin typeface="Cambria" panose="02040503050406030204" pitchFamily="18" charset="0"/>
              </a:rPr>
              <a:t>✓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D541D7-E90B-D982-ABCF-20763D411CBD}"/>
              </a:ext>
            </a:extLst>
          </p:cNvPr>
          <p:cNvSpPr txBox="1"/>
          <p:nvPr/>
        </p:nvSpPr>
        <p:spPr>
          <a:xfrm>
            <a:off x="1066800" y="3784600"/>
            <a:ext cx="330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14532D"/>
                </a:solidFill>
                <a:latin typeface="Cambria" panose="02040503050406030204" pitchFamily="18" charset="0"/>
              </a:rPr>
              <a:t>Equivalence partitioning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8C5FA0D-B183-C26C-3E65-4BFC7F5BC613}"/>
              </a:ext>
            </a:extLst>
          </p:cNvPr>
          <p:cNvSpPr txBox="1"/>
          <p:nvPr/>
        </p:nvSpPr>
        <p:spPr>
          <a:xfrm>
            <a:off x="4368800" y="3810000"/>
            <a:ext cx="726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1B2430"/>
                </a:solidFill>
                <a:latin typeface="Calibri" panose="020F0502020204030204" pitchFamily="34" charset="0"/>
              </a:rPr>
              <a:t>valid and invalid classes for each input</a:t>
            </a:r>
            <a:endParaRPr lang="en-IN" sz="1400">
              <a:solidFill>
                <a:srgbClr val="1B2430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A45D513-865A-2B1D-7E75-347E456B7178}"/>
              </a:ext>
            </a:extLst>
          </p:cNvPr>
          <p:cNvSpPr/>
          <p:nvPr/>
        </p:nvSpPr>
        <p:spPr>
          <a:xfrm>
            <a:off x="558800" y="4343400"/>
            <a:ext cx="355600" cy="355600"/>
          </a:xfrm>
          <a:prstGeom prst="ellipse">
            <a:avLst/>
          </a:prstGeom>
          <a:solidFill>
            <a:srgbClr val="1453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300" b="1">
                <a:solidFill>
                  <a:srgbClr val="FFFFFF"/>
                </a:solidFill>
                <a:latin typeface="Cambria" panose="02040503050406030204" pitchFamily="18" charset="0"/>
              </a:rPr>
              <a:t>✓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2A8C01C-EDFD-A765-6BBC-909F37009320}"/>
              </a:ext>
            </a:extLst>
          </p:cNvPr>
          <p:cNvSpPr txBox="1"/>
          <p:nvPr/>
        </p:nvSpPr>
        <p:spPr>
          <a:xfrm>
            <a:off x="1066800" y="4368800"/>
            <a:ext cx="330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14532D"/>
                </a:solidFill>
                <a:latin typeface="Cambria" panose="02040503050406030204" pitchFamily="18" charset="0"/>
              </a:rPr>
              <a:t>Boundary value analysis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F274C1-D598-CA0D-BB77-9D96DDD693AF}"/>
              </a:ext>
            </a:extLst>
          </p:cNvPr>
          <p:cNvSpPr txBox="1"/>
          <p:nvPr/>
        </p:nvSpPr>
        <p:spPr>
          <a:xfrm>
            <a:off x="4368800" y="4394200"/>
            <a:ext cx="726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400">
                <a:solidFill>
                  <a:srgbClr val="1B2430"/>
                </a:solidFill>
                <a:latin typeface="Calibri" panose="020F0502020204030204" pitchFamily="34" charset="0"/>
              </a:rPr>
              <a:t>min-1, min, max, max+1 for every limit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2EBD6A0-5165-BB12-4AAA-004268DAD0A2}"/>
              </a:ext>
            </a:extLst>
          </p:cNvPr>
          <p:cNvSpPr/>
          <p:nvPr/>
        </p:nvSpPr>
        <p:spPr>
          <a:xfrm>
            <a:off x="558800" y="4927600"/>
            <a:ext cx="355600" cy="355600"/>
          </a:xfrm>
          <a:prstGeom prst="ellipse">
            <a:avLst/>
          </a:prstGeom>
          <a:solidFill>
            <a:srgbClr val="1453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300" b="1">
                <a:solidFill>
                  <a:srgbClr val="FFFFFF"/>
                </a:solidFill>
                <a:latin typeface="Cambria" panose="02040503050406030204" pitchFamily="18" charset="0"/>
              </a:rPr>
              <a:t>✓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9AC360-C97A-5CB2-176F-8784C3FBD87A}"/>
              </a:ext>
            </a:extLst>
          </p:cNvPr>
          <p:cNvSpPr txBox="1"/>
          <p:nvPr/>
        </p:nvSpPr>
        <p:spPr>
          <a:xfrm>
            <a:off x="1066800" y="4953000"/>
            <a:ext cx="330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14532D"/>
                </a:solidFill>
                <a:latin typeface="Cambria" panose="02040503050406030204" pitchFamily="18" charset="0"/>
              </a:rPr>
              <a:t>Validation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F313D78-A84F-C0DC-3431-4DC6DFBB7BBE}"/>
              </a:ext>
            </a:extLst>
          </p:cNvPr>
          <p:cNvSpPr txBox="1"/>
          <p:nvPr/>
        </p:nvSpPr>
        <p:spPr>
          <a:xfrm>
            <a:off x="4368800" y="4978400"/>
            <a:ext cx="726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1B2430"/>
                </a:solidFill>
                <a:latin typeface="Calibri" panose="020F0502020204030204" pitchFamily="34" charset="0"/>
              </a:rPr>
              <a:t>every API and form error message</a:t>
            </a:r>
            <a:endParaRPr lang="en-IN" sz="1400">
              <a:solidFill>
                <a:srgbClr val="1B2430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D98C3C9-A28E-A5FA-47B9-15F514F1E426}"/>
              </a:ext>
            </a:extLst>
          </p:cNvPr>
          <p:cNvSpPr/>
          <p:nvPr/>
        </p:nvSpPr>
        <p:spPr>
          <a:xfrm>
            <a:off x="558800" y="5511800"/>
            <a:ext cx="355600" cy="355600"/>
          </a:xfrm>
          <a:prstGeom prst="ellipse">
            <a:avLst/>
          </a:prstGeom>
          <a:solidFill>
            <a:srgbClr val="14532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300" b="1">
                <a:solidFill>
                  <a:srgbClr val="FFFFFF"/>
                </a:solidFill>
                <a:latin typeface="Cambria" panose="02040503050406030204" pitchFamily="18" charset="0"/>
              </a:rPr>
              <a:t>✓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896EA8B-86EE-5F9E-0213-9182C869D435}"/>
              </a:ext>
            </a:extLst>
          </p:cNvPr>
          <p:cNvSpPr txBox="1"/>
          <p:nvPr/>
        </p:nvSpPr>
        <p:spPr>
          <a:xfrm>
            <a:off x="1066800" y="5537200"/>
            <a:ext cx="330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14532D"/>
                </a:solidFill>
                <a:latin typeface="Cambria" panose="02040503050406030204" pitchFamily="18" charset="0"/>
              </a:rPr>
              <a:t>Unit and integration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7102FF1-66CE-6D64-6B27-BF7A83BDD019}"/>
              </a:ext>
            </a:extLst>
          </p:cNvPr>
          <p:cNvSpPr txBox="1"/>
          <p:nvPr/>
        </p:nvSpPr>
        <p:spPr>
          <a:xfrm>
            <a:off x="4368800" y="5562600"/>
            <a:ext cx="726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1B2430"/>
                </a:solidFill>
                <a:latin typeface="Calibri" panose="020F0502020204030204" pitchFamily="34" charset="0"/>
              </a:rPr>
              <a:t>engine alone, then engine + API + DB + ESP32 loop</a:t>
            </a:r>
            <a:endParaRPr lang="en-IN" sz="1400">
              <a:solidFill>
                <a:srgbClr val="1B2430"/>
              </a:solidFill>
              <a:latin typeface="Calibri" panose="020F050202020403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0C34507-15DF-AF96-8845-DC778F2ADFCA}"/>
              </a:ext>
            </a:extLst>
          </p:cNvPr>
          <p:cNvSpPr txBox="1"/>
          <p:nvPr/>
        </p:nvSpPr>
        <p:spPr>
          <a:xfrm>
            <a:off x="558800" y="6121400"/>
            <a:ext cx="1107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 i="1">
                <a:solidFill>
                  <a:srgbClr val="5D6676"/>
                </a:solidFill>
                <a:latin typeface="Calibri" panose="020F0502020204030204" pitchFamily="34" charset="0"/>
              </a:rPr>
              <a:t>Format: Test Case ID · Module · Test Scenario · Test Data · Expected Result · Actual Result · Status</a:t>
            </a:r>
            <a:endParaRPr lang="en-IN" sz="1200" i="1">
              <a:solidFill>
                <a:srgbClr val="5D6676"/>
              </a:solidFill>
              <a:latin typeface="Calibri" panose="020F050202020403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EC36CAA-60E6-085D-CE70-27FB1186819A}"/>
              </a:ext>
            </a:extLst>
          </p:cNvPr>
          <p:cNvSpPr txBox="1"/>
          <p:nvPr/>
        </p:nvSpPr>
        <p:spPr>
          <a:xfrm>
            <a:off x="558800" y="65278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5D6676"/>
                </a:solidFill>
                <a:latin typeface="Calibri" panose="020F0502020204030204" pitchFamily="34" charset="0"/>
              </a:rPr>
              <a:t>Smart Classroom Electricity Management · SE Lab PBL · Vineet Shah</a:t>
            </a:r>
            <a:endParaRPr lang="en-IN" sz="1000">
              <a:solidFill>
                <a:srgbClr val="5D6676"/>
              </a:solidFill>
              <a:latin typeface="Calibri" panose="020F050202020403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BCA4A2A-1171-9B52-4537-3658CDA14287}"/>
              </a:ext>
            </a:extLst>
          </p:cNvPr>
          <p:cNvSpPr txBox="1"/>
          <p:nvPr/>
        </p:nvSpPr>
        <p:spPr>
          <a:xfrm>
            <a:off x="10871200" y="65278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1000">
                <a:solidFill>
                  <a:srgbClr val="5D6676"/>
                </a:solidFill>
                <a:latin typeface="Calibri" panose="020F0502020204030204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253733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33FC765-E8CA-E23A-F49C-E21CC0A4EA6A}"/>
              </a:ext>
            </a:extLst>
          </p:cNvPr>
          <p:cNvSpPr txBox="1"/>
          <p:nvPr/>
        </p:nvSpPr>
        <p:spPr>
          <a:xfrm>
            <a:off x="558800" y="330200"/>
            <a:ext cx="1107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200" b="1">
                <a:solidFill>
                  <a:srgbClr val="14532D"/>
                </a:solidFill>
                <a:latin typeface="Cambria" panose="02040503050406030204" pitchFamily="18" charset="0"/>
              </a:rPr>
              <a:t>Run 1 found 4 real bugs</a:t>
            </a:r>
            <a:endParaRPr lang="en-IN" sz="3200" b="1">
              <a:solidFill>
                <a:srgbClr val="14532D"/>
              </a:solidFill>
              <a:latin typeface="Cambria" panose="020405030504060302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05D6037-D502-6906-8F36-53825B605C20}"/>
              </a:ext>
            </a:extLst>
          </p:cNvPr>
          <p:cNvSpPr/>
          <p:nvPr/>
        </p:nvSpPr>
        <p:spPr>
          <a:xfrm>
            <a:off x="558800" y="1270000"/>
            <a:ext cx="2540000" cy="1905000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A96B26-48C2-BFAC-F736-77DB35C42EAC}"/>
              </a:ext>
            </a:extLst>
          </p:cNvPr>
          <p:cNvSpPr txBox="1"/>
          <p:nvPr/>
        </p:nvSpPr>
        <p:spPr>
          <a:xfrm>
            <a:off x="558800" y="13970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3400" b="1">
                <a:solidFill>
                  <a:srgbClr val="A31F1F"/>
                </a:solidFill>
                <a:latin typeface="Cambria" panose="02040503050406030204" pitchFamily="18" charset="0"/>
              </a:rPr>
              <a:t>73 / 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EB649C-B4FB-473D-E129-BD984F2D765F}"/>
              </a:ext>
            </a:extLst>
          </p:cNvPr>
          <p:cNvSpPr txBox="1"/>
          <p:nvPr/>
        </p:nvSpPr>
        <p:spPr>
          <a:xfrm>
            <a:off x="660400" y="2451100"/>
            <a:ext cx="2336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300">
                <a:solidFill>
                  <a:srgbClr val="1B2430"/>
                </a:solidFill>
                <a:latin typeface="Calibri" panose="020F0502020204030204" pitchFamily="34" charset="0"/>
              </a:rPr>
              <a:t>Run 1: passed / failed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0BF55-E0E9-98A9-5C2C-104DDF00691D}"/>
              </a:ext>
            </a:extLst>
          </p:cNvPr>
          <p:cNvSpPr txBox="1"/>
          <p:nvPr/>
        </p:nvSpPr>
        <p:spPr>
          <a:xfrm>
            <a:off x="3098800" y="1905000"/>
            <a:ext cx="63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3200">
                <a:solidFill>
                  <a:srgbClr val="5D6676"/>
                </a:solidFill>
                <a:latin typeface="Calibri" panose="020F0502020204030204" pitchFamily="34" charset="0"/>
              </a:rPr>
              <a:t>→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D7D188D-C015-8535-2804-A9B2BD164577}"/>
              </a:ext>
            </a:extLst>
          </p:cNvPr>
          <p:cNvSpPr/>
          <p:nvPr/>
        </p:nvSpPr>
        <p:spPr>
          <a:xfrm>
            <a:off x="3733800" y="1270000"/>
            <a:ext cx="2540000" cy="1905000"/>
          </a:xfrm>
          <a:prstGeom prst="roundRect">
            <a:avLst>
              <a:gd name="adj" fmla="val 12000"/>
            </a:avLst>
          </a:prstGeom>
          <a:solidFill>
            <a:srgbClr val="E3F5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EE87D7-07EC-D12D-05AC-11600778B3D5}"/>
              </a:ext>
            </a:extLst>
          </p:cNvPr>
          <p:cNvSpPr txBox="1"/>
          <p:nvPr/>
        </p:nvSpPr>
        <p:spPr>
          <a:xfrm>
            <a:off x="3733800" y="13970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3400" b="1">
                <a:solidFill>
                  <a:srgbClr val="166534"/>
                </a:solidFill>
                <a:latin typeface="Cambria" panose="02040503050406030204" pitchFamily="18" charset="0"/>
              </a:rPr>
              <a:t>78 / 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0633AE-BE55-2423-E30B-6305E5B7EB86}"/>
              </a:ext>
            </a:extLst>
          </p:cNvPr>
          <p:cNvSpPr txBox="1"/>
          <p:nvPr/>
        </p:nvSpPr>
        <p:spPr>
          <a:xfrm>
            <a:off x="3835400" y="2451100"/>
            <a:ext cx="2336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300">
                <a:solidFill>
                  <a:srgbClr val="1B2430"/>
                </a:solidFill>
                <a:latin typeface="Calibri" panose="020F0502020204030204" pitchFamily="34" charset="0"/>
              </a:rPr>
              <a:t>Run 2 (retest): passed / failed</a:t>
            </a:r>
            <a:endParaRPr lang="en-IN" sz="1300">
              <a:solidFill>
                <a:srgbClr val="1B2430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E781A3-926F-892E-BC9A-2A2D2D8839C2}"/>
              </a:ext>
            </a:extLst>
          </p:cNvPr>
          <p:cNvSpPr txBox="1"/>
          <p:nvPr/>
        </p:nvSpPr>
        <p:spPr>
          <a:xfrm>
            <a:off x="558800" y="3454400"/>
            <a:ext cx="5715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77800" indent="-177800">
              <a:spcAft>
                <a:spcPts val="800"/>
              </a:spcAft>
              <a:buFont typeface="+mj-lt"/>
              <a:buChar char="•"/>
            </a:pPr>
            <a:r>
              <a:rPr lang="en-US" sz="1400">
                <a:solidFill>
                  <a:srgbClr val="1B2430"/>
                </a:solidFill>
                <a:latin typeface="Calibri" panose="020F0502020204030204" pitchFamily="34" charset="0"/>
              </a:rPr>
              <a:t>Each failure was analysed, logged as a Bug in Jira, fixed in code and retested.</a:t>
            </a:r>
          </a:p>
          <a:p>
            <a:pPr marL="177800" indent="-177800">
              <a:spcAft>
                <a:spcPts val="800"/>
              </a:spcAft>
              <a:buFont typeface="+mj-lt"/>
              <a:buChar char="•"/>
            </a:pPr>
            <a:r>
              <a:rPr lang="en-US" sz="1400">
                <a:solidFill>
                  <a:srgbClr val="1B2430"/>
                </a:solidFill>
                <a:latin typeface="Calibri" panose="020F0502020204030204" pitchFamily="34" charset="0"/>
              </a:rPr>
              <a:t>Fix and retest comments are on each bug (SCEM-24 to SCEM-27).</a:t>
            </a:r>
            <a:endParaRPr lang="en-IN" sz="1400">
              <a:solidFill>
                <a:srgbClr val="1B2430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3427F29-AED9-3146-B33B-1DB373C21E37}"/>
              </a:ext>
            </a:extLst>
          </p:cNvPr>
          <p:cNvSpPr/>
          <p:nvPr/>
        </p:nvSpPr>
        <p:spPr>
          <a:xfrm>
            <a:off x="6654800" y="1270000"/>
            <a:ext cx="4978400" cy="1066800"/>
          </a:xfrm>
          <a:prstGeom prst="roundRect">
            <a:avLst>
              <a:gd name="adj" fmla="val 12000"/>
            </a:avLst>
          </a:prstGeom>
          <a:solidFill>
            <a:srgbClr val="E3F5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5E1F69-8E82-0716-F1CF-F3B196B0C369}"/>
              </a:ext>
            </a:extLst>
          </p:cNvPr>
          <p:cNvSpPr txBox="1"/>
          <p:nvPr/>
        </p:nvSpPr>
        <p:spPr>
          <a:xfrm>
            <a:off x="6858000" y="13970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14532D"/>
                </a:solidFill>
                <a:latin typeface="Cambria" panose="02040503050406030204" pitchFamily="18" charset="0"/>
              </a:rPr>
              <a:t>BUG-01 · SCEM-24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28018B-63A0-80CB-F86B-D347EAB50BB9}"/>
              </a:ext>
            </a:extLst>
          </p:cNvPr>
          <p:cNvSpPr txBox="1"/>
          <p:nvPr/>
        </p:nvSpPr>
        <p:spPr>
          <a:xfrm>
            <a:off x="9728200" y="1422400"/>
            <a:ext cx="1727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1200" b="1">
                <a:solidFill>
                  <a:srgbClr val="5D6676"/>
                </a:solidFill>
                <a:latin typeface="Calibri" panose="020F0502020204030204" pitchFamily="34" charset="0"/>
              </a:rPr>
              <a:t>Minor / Medium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CD3513-903D-8229-EFFC-96FF06F3171A}"/>
              </a:ext>
            </a:extLst>
          </p:cNvPr>
          <p:cNvSpPr txBox="1"/>
          <p:nvPr/>
        </p:nvSpPr>
        <p:spPr>
          <a:xfrm>
            <a:off x="6858000" y="18034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1B2430"/>
                </a:solidFill>
                <a:latin typeface="Calibri" panose="020F0502020204030204" pitchFamily="34" charset="0"/>
              </a:rPr>
              <a:t>Room with no readings shown as OCCUPIED</a:t>
            </a:r>
            <a:endParaRPr lang="en-IN" sz="1400">
              <a:solidFill>
                <a:srgbClr val="1B2430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8CDEC11-29C6-3511-636A-C03830B28E54}"/>
              </a:ext>
            </a:extLst>
          </p:cNvPr>
          <p:cNvSpPr/>
          <p:nvPr/>
        </p:nvSpPr>
        <p:spPr>
          <a:xfrm>
            <a:off x="6654800" y="2489200"/>
            <a:ext cx="4978400" cy="1066800"/>
          </a:xfrm>
          <a:prstGeom prst="roundRect">
            <a:avLst>
              <a:gd name="adj" fmla="val 12000"/>
            </a:avLst>
          </a:prstGeom>
          <a:solidFill>
            <a:srgbClr val="FFF7E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3AE153-3EB0-4EBD-5EB0-C9E3745750C9}"/>
              </a:ext>
            </a:extLst>
          </p:cNvPr>
          <p:cNvSpPr txBox="1"/>
          <p:nvPr/>
        </p:nvSpPr>
        <p:spPr>
          <a:xfrm>
            <a:off x="6858000" y="26162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14532D"/>
                </a:solidFill>
                <a:latin typeface="Cambria" panose="02040503050406030204" pitchFamily="18" charset="0"/>
              </a:rPr>
              <a:t>BUG-02 · SCEM-25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D6BDDA-01E7-5587-CA04-95488A874E10}"/>
              </a:ext>
            </a:extLst>
          </p:cNvPr>
          <p:cNvSpPr txBox="1"/>
          <p:nvPr/>
        </p:nvSpPr>
        <p:spPr>
          <a:xfrm>
            <a:off x="9728200" y="2641600"/>
            <a:ext cx="1727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1200" b="1">
                <a:solidFill>
                  <a:srgbClr val="A31F1F"/>
                </a:solidFill>
                <a:latin typeface="Calibri" panose="020F0502020204030204" pitchFamily="34" charset="0"/>
              </a:rPr>
              <a:t>Major / High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A1A0D0-56B5-9DD2-AAC9-0C194E6E4E0F}"/>
              </a:ext>
            </a:extLst>
          </p:cNvPr>
          <p:cNvSpPr txBox="1"/>
          <p:nvPr/>
        </p:nvSpPr>
        <p:spPr>
          <a:xfrm>
            <a:off x="6858000" y="30226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nb-NO" sz="1400">
                <a:solidFill>
                  <a:srgbClr val="1B2430"/>
                </a:solidFill>
                <a:latin typeface="Calibri" panose="020F0502020204030204" pitchFamily="34" charset="0"/>
              </a:rPr>
              <a:t>False AC alert at 0.499 deg C drop (rounding)</a:t>
            </a:r>
            <a:endParaRPr lang="en-IN" sz="1400">
              <a:solidFill>
                <a:srgbClr val="1B2430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D59A47A-90B8-8001-0E6C-F6E7B21847E2}"/>
              </a:ext>
            </a:extLst>
          </p:cNvPr>
          <p:cNvSpPr/>
          <p:nvPr/>
        </p:nvSpPr>
        <p:spPr>
          <a:xfrm>
            <a:off x="6654800" y="3708400"/>
            <a:ext cx="4978400" cy="1066800"/>
          </a:xfrm>
          <a:prstGeom prst="roundRect">
            <a:avLst>
              <a:gd name="adj" fmla="val 12000"/>
            </a:avLst>
          </a:prstGeom>
          <a:solidFill>
            <a:srgbClr val="E3F5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2EA0C1-822D-7E7D-F23D-69AAE9BD8628}"/>
              </a:ext>
            </a:extLst>
          </p:cNvPr>
          <p:cNvSpPr txBox="1"/>
          <p:nvPr/>
        </p:nvSpPr>
        <p:spPr>
          <a:xfrm>
            <a:off x="6858000" y="38354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14532D"/>
                </a:solidFill>
                <a:latin typeface="Cambria" panose="02040503050406030204" pitchFamily="18" charset="0"/>
              </a:rPr>
              <a:t>BUG-03 · SCEM-26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93A9B4-6528-9BCA-7E54-B0658917AF27}"/>
              </a:ext>
            </a:extLst>
          </p:cNvPr>
          <p:cNvSpPr txBox="1"/>
          <p:nvPr/>
        </p:nvSpPr>
        <p:spPr>
          <a:xfrm>
            <a:off x="9728200" y="3860800"/>
            <a:ext cx="1727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1200" b="1">
                <a:solidFill>
                  <a:srgbClr val="5D6676"/>
                </a:solidFill>
                <a:latin typeface="Calibri" panose="020F0502020204030204" pitchFamily="34" charset="0"/>
              </a:rPr>
              <a:t>Minor / Low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3FD27FB-0B26-3277-708B-236D7EC693F2}"/>
              </a:ext>
            </a:extLst>
          </p:cNvPr>
          <p:cNvSpPr txBox="1"/>
          <p:nvPr/>
        </p:nvSpPr>
        <p:spPr>
          <a:xfrm>
            <a:off x="6858000" y="42418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1B2430"/>
                </a:solidFill>
                <a:latin typeface="Calibri" panose="020F0502020204030204" pitchFamily="34" charset="0"/>
              </a:rPr>
              <a:t>Missing room_id gave 404 'Room None'</a:t>
            </a:r>
            <a:endParaRPr lang="en-IN" sz="1400">
              <a:solidFill>
                <a:srgbClr val="1B2430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9731502-0AA6-E9D2-873A-C727AB327960}"/>
              </a:ext>
            </a:extLst>
          </p:cNvPr>
          <p:cNvSpPr/>
          <p:nvPr/>
        </p:nvSpPr>
        <p:spPr>
          <a:xfrm>
            <a:off x="6654800" y="4927600"/>
            <a:ext cx="4978400" cy="1066800"/>
          </a:xfrm>
          <a:prstGeom prst="roundRect">
            <a:avLst>
              <a:gd name="adj" fmla="val 12000"/>
            </a:avLst>
          </a:prstGeom>
          <a:solidFill>
            <a:srgbClr val="E3F5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BC32AE7-AEB7-4510-6089-C092480BD038}"/>
              </a:ext>
            </a:extLst>
          </p:cNvPr>
          <p:cNvSpPr txBox="1"/>
          <p:nvPr/>
        </p:nvSpPr>
        <p:spPr>
          <a:xfrm>
            <a:off x="6858000" y="50546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14532D"/>
                </a:solidFill>
                <a:latin typeface="Cambria" panose="02040503050406030204" pitchFamily="18" charset="0"/>
              </a:rPr>
              <a:t>BUG-04 · SCEM-27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85E2D59-D912-9E3F-B41E-926CF91B20BE}"/>
              </a:ext>
            </a:extLst>
          </p:cNvPr>
          <p:cNvSpPr txBox="1"/>
          <p:nvPr/>
        </p:nvSpPr>
        <p:spPr>
          <a:xfrm>
            <a:off x="9728200" y="5080000"/>
            <a:ext cx="1727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1200" b="1">
                <a:solidFill>
                  <a:srgbClr val="5D6676"/>
                </a:solidFill>
                <a:latin typeface="Calibri" panose="020F0502020204030204" pitchFamily="34" charset="0"/>
              </a:rPr>
              <a:t>Trivial / Low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69AC701-646A-699E-0635-D5626E7D1134}"/>
              </a:ext>
            </a:extLst>
          </p:cNvPr>
          <p:cNvSpPr txBox="1"/>
          <p:nvPr/>
        </p:nvSpPr>
        <p:spPr>
          <a:xfrm>
            <a:off x="6858000" y="54610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1B2430"/>
                </a:solidFill>
                <a:latin typeface="Calibri" panose="020F0502020204030204" pitchFamily="34" charset="0"/>
              </a:rPr>
              <a:t>Settings errors showed internal field names</a:t>
            </a:r>
            <a:endParaRPr lang="en-IN" sz="1400">
              <a:solidFill>
                <a:srgbClr val="1B2430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EE285CD-982A-E716-1586-2A05C6FA6AED}"/>
              </a:ext>
            </a:extLst>
          </p:cNvPr>
          <p:cNvSpPr txBox="1"/>
          <p:nvPr/>
        </p:nvSpPr>
        <p:spPr>
          <a:xfrm>
            <a:off x="558800" y="65278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5D6676"/>
                </a:solidFill>
                <a:latin typeface="Calibri" panose="020F0502020204030204" pitchFamily="34" charset="0"/>
              </a:rPr>
              <a:t>Smart Classroom Electricity Management · SE Lab PBL · Vineet Shah</a:t>
            </a:r>
            <a:endParaRPr lang="en-IN" sz="1000">
              <a:solidFill>
                <a:srgbClr val="5D6676"/>
              </a:solidFill>
              <a:latin typeface="Calibri" panose="020F050202020403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8E22770-B656-ADDD-3300-552C4436EA32}"/>
              </a:ext>
            </a:extLst>
          </p:cNvPr>
          <p:cNvSpPr txBox="1"/>
          <p:nvPr/>
        </p:nvSpPr>
        <p:spPr>
          <a:xfrm>
            <a:off x="10871200" y="65278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1000">
                <a:solidFill>
                  <a:srgbClr val="5D6676"/>
                </a:solidFill>
                <a:latin typeface="Calibri" panose="020F0502020204030204" pitchFamily="34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128254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57A2AE4-3653-7D88-82A6-F27C30585B1B}"/>
              </a:ext>
            </a:extLst>
          </p:cNvPr>
          <p:cNvSpPr txBox="1"/>
          <p:nvPr/>
        </p:nvSpPr>
        <p:spPr>
          <a:xfrm>
            <a:off x="558800" y="330200"/>
            <a:ext cx="1107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200" b="1">
                <a:solidFill>
                  <a:srgbClr val="14532D"/>
                </a:solidFill>
                <a:latin typeface="Cambria" panose="02040503050406030204" pitchFamily="18" charset="0"/>
              </a:rPr>
              <a:t>Bug fix and retest evidence · BUG-01</a:t>
            </a:r>
            <a:endParaRPr lang="en-IN" sz="3200" b="1">
              <a:solidFill>
                <a:srgbClr val="14532D"/>
              </a:solidFill>
              <a:latin typeface="Cambria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8E87D7-5863-D4C5-588C-91958AA57E2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0" y="1370806"/>
            <a:ext cx="5384800" cy="3786188"/>
          </a:xfrm>
          <a:prstGeom prst="rect">
            <a:avLst/>
          </a:prstGeom>
          <a:ln w="9525">
            <a:solidFill>
              <a:srgbClr val="D7DCE4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360A146-8C9C-2E67-2C47-69F72E43A946}"/>
              </a:ext>
            </a:extLst>
          </p:cNvPr>
          <p:cNvSpPr txBox="1"/>
          <p:nvPr/>
        </p:nvSpPr>
        <p:spPr>
          <a:xfrm>
            <a:off x="558800" y="5486400"/>
            <a:ext cx="5384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500" b="1">
                <a:solidFill>
                  <a:srgbClr val="A31F1F"/>
                </a:solidFill>
                <a:latin typeface="Calibri" panose="020F0502020204030204" pitchFamily="34" charset="0"/>
              </a:rPr>
              <a:t>Before fix: OCCUPIED, TC_UI_01 FAIL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44D3FF-257A-BAB2-B20E-3522B9EAC22B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1370806"/>
            <a:ext cx="5384800" cy="3786188"/>
          </a:xfrm>
          <a:prstGeom prst="rect">
            <a:avLst/>
          </a:prstGeom>
          <a:ln w="9525">
            <a:solidFill>
              <a:srgbClr val="D7DCE4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D85970C-3EEC-ABF2-A89A-FFC01ACAFF57}"/>
              </a:ext>
            </a:extLst>
          </p:cNvPr>
          <p:cNvSpPr txBox="1"/>
          <p:nvPr/>
        </p:nvSpPr>
        <p:spPr>
          <a:xfrm>
            <a:off x="6248400" y="5486400"/>
            <a:ext cx="5384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500" b="1">
                <a:solidFill>
                  <a:srgbClr val="166534"/>
                </a:solidFill>
                <a:latin typeface="Calibri" panose="020F0502020204030204" pitchFamily="34" charset="0"/>
              </a:rPr>
              <a:t>After fix: NO DATA, TC_UI_01 PASS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D0B6B6-8AF1-3E1C-C653-9725C13842D3}"/>
              </a:ext>
            </a:extLst>
          </p:cNvPr>
          <p:cNvSpPr txBox="1"/>
          <p:nvPr/>
        </p:nvSpPr>
        <p:spPr>
          <a:xfrm>
            <a:off x="558800" y="5969000"/>
            <a:ext cx="1107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>
                <a:solidFill>
                  <a:srgbClr val="5D6676"/>
                </a:solidFill>
                <a:latin typeface="Calibri" panose="020F0502020204030204" pitchFamily="34" charset="0"/>
              </a:rPr>
              <a:t>Same seeded data, same test case, captured from the real dashboard in Microsoft Edge before and after the fix</a:t>
            </a:r>
            <a:endParaRPr lang="en-IN" sz="1200">
              <a:solidFill>
                <a:srgbClr val="5D6676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C657B2-6CFC-C909-398B-146A48EECF67}"/>
              </a:ext>
            </a:extLst>
          </p:cNvPr>
          <p:cNvSpPr txBox="1"/>
          <p:nvPr/>
        </p:nvSpPr>
        <p:spPr>
          <a:xfrm>
            <a:off x="558800" y="65278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5D6676"/>
                </a:solidFill>
                <a:latin typeface="Calibri" panose="020F0502020204030204" pitchFamily="34" charset="0"/>
              </a:rPr>
              <a:t>Smart Classroom Electricity Management · SE Lab PBL · Vineet Shah</a:t>
            </a:r>
            <a:endParaRPr lang="en-IN" sz="1000">
              <a:solidFill>
                <a:srgbClr val="5D6676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9A677A-CC82-45F1-03DB-1880F4E1519D}"/>
              </a:ext>
            </a:extLst>
          </p:cNvPr>
          <p:cNvSpPr txBox="1"/>
          <p:nvPr/>
        </p:nvSpPr>
        <p:spPr>
          <a:xfrm>
            <a:off x="10871200" y="65278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1000">
                <a:solidFill>
                  <a:srgbClr val="5D6676"/>
                </a:solidFill>
                <a:latin typeface="Calibri" panose="020F0502020204030204" pitchFamily="3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5697226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1C321DB-825E-A612-E425-9E89FEBDC4F6}"/>
              </a:ext>
            </a:extLst>
          </p:cNvPr>
          <p:cNvSpPr txBox="1"/>
          <p:nvPr/>
        </p:nvSpPr>
        <p:spPr>
          <a:xfrm>
            <a:off x="558800" y="330200"/>
            <a:ext cx="1107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IN" sz="3200" b="1">
                <a:solidFill>
                  <a:srgbClr val="14532D"/>
                </a:solidFill>
                <a:latin typeface="Cambria" panose="02040503050406030204" pitchFamily="18" charset="0"/>
              </a:rPr>
              <a:t>Live demonstration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3B07495-1886-CE1E-F174-CD730B69BBBF}"/>
              </a:ext>
            </a:extLst>
          </p:cNvPr>
          <p:cNvSpPr/>
          <p:nvPr/>
        </p:nvSpPr>
        <p:spPr>
          <a:xfrm>
            <a:off x="558800" y="1371600"/>
            <a:ext cx="558800" cy="558800"/>
          </a:xfrm>
          <a:prstGeom prst="ellipse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b="1">
                <a:solidFill>
                  <a:srgbClr val="FFFFFF"/>
                </a:solidFill>
                <a:latin typeface="Cambria" panose="02040503050406030204" pitchFamily="18" charset="0"/>
              </a:rPr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B85B35-5BA6-3B18-844C-5A0F52710C77}"/>
              </a:ext>
            </a:extLst>
          </p:cNvPr>
          <p:cNvSpPr txBox="1"/>
          <p:nvPr/>
        </p:nvSpPr>
        <p:spPr>
          <a:xfrm>
            <a:off x="1346200" y="13462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700" b="1">
                <a:solidFill>
                  <a:srgbClr val="14532D"/>
                </a:solidFill>
                <a:latin typeface="Cambria" panose="02040503050406030204" pitchFamily="18" charset="0"/>
              </a:rPr>
              <a:t>Start the server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4D99C5-5A89-1464-4D8B-2C339FED43BC}"/>
              </a:ext>
            </a:extLst>
          </p:cNvPr>
          <p:cNvSpPr txBox="1"/>
          <p:nvPr/>
        </p:nvSpPr>
        <p:spPr>
          <a:xfrm>
            <a:off x="1346200" y="17272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fr-FR" sz="1300">
                <a:solidFill>
                  <a:srgbClr val="1B2430"/>
                </a:solidFill>
                <a:latin typeface="Courier New" panose="02070309020205020404" pitchFamily="49" charset="0"/>
              </a:rPr>
              <a:t>python -m app.server --port 8090</a:t>
            </a:r>
            <a:endParaRPr lang="en-IN" sz="1300">
              <a:solidFill>
                <a:srgbClr val="1B2430"/>
              </a:solidFill>
              <a:latin typeface="Courier New" panose="02070309020205020404" pitchFamily="49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1C9A959-DBA7-BD6C-4E46-988EB493F97B}"/>
              </a:ext>
            </a:extLst>
          </p:cNvPr>
          <p:cNvSpPr/>
          <p:nvPr/>
        </p:nvSpPr>
        <p:spPr>
          <a:xfrm>
            <a:off x="558800" y="2590800"/>
            <a:ext cx="558800" cy="558800"/>
          </a:xfrm>
          <a:prstGeom prst="ellipse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b="1">
                <a:solidFill>
                  <a:srgbClr val="FFFFFF"/>
                </a:solidFill>
                <a:latin typeface="Cambria" panose="02040503050406030204" pitchFamily="18" charset="0"/>
              </a:rPr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165A12-5268-2895-47A9-085274DB566E}"/>
              </a:ext>
            </a:extLst>
          </p:cNvPr>
          <p:cNvSpPr txBox="1"/>
          <p:nvPr/>
        </p:nvSpPr>
        <p:spPr>
          <a:xfrm>
            <a:off x="1346200" y="25654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700" b="1">
                <a:solidFill>
                  <a:srgbClr val="14532D"/>
                </a:solidFill>
                <a:latin typeface="Cambria" panose="02040503050406030204" pitchFamily="18" charset="0"/>
              </a:rPr>
              <a:t>Run the classroom simulator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CFF108-E66F-14A3-BFF0-3FC054A96A36}"/>
              </a:ext>
            </a:extLst>
          </p:cNvPr>
          <p:cNvSpPr txBox="1"/>
          <p:nvPr/>
        </p:nvSpPr>
        <p:spPr>
          <a:xfrm>
            <a:off x="1346200" y="29464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1B2430"/>
                </a:solidFill>
                <a:latin typeface="Courier New" panose="02070309020205020404" pitchFamily="49" charset="0"/>
              </a:rPr>
              <a:t>python -m app.simulator --room LAB-1 --scenario ac_left_on</a:t>
            </a:r>
            <a:endParaRPr lang="en-IN" sz="1300">
              <a:solidFill>
                <a:srgbClr val="1B2430"/>
              </a:solidFill>
              <a:latin typeface="Courier New" panose="02070309020205020404" pitchFamily="49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20CDB12-AF75-0002-F62C-2E183620CC95}"/>
              </a:ext>
            </a:extLst>
          </p:cNvPr>
          <p:cNvSpPr/>
          <p:nvPr/>
        </p:nvSpPr>
        <p:spPr>
          <a:xfrm>
            <a:off x="558800" y="3810000"/>
            <a:ext cx="558800" cy="558800"/>
          </a:xfrm>
          <a:prstGeom prst="ellipse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b="1">
                <a:solidFill>
                  <a:srgbClr val="FFFFFF"/>
                </a:solidFill>
                <a:latin typeface="Cambria" panose="02040503050406030204" pitchFamily="18" charset="0"/>
              </a:rPr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A1750F-F290-AA6B-D969-75B104DF3890}"/>
              </a:ext>
            </a:extLst>
          </p:cNvPr>
          <p:cNvSpPr txBox="1"/>
          <p:nvPr/>
        </p:nvSpPr>
        <p:spPr>
          <a:xfrm>
            <a:off x="1346200" y="37846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700" b="1">
                <a:solidFill>
                  <a:srgbClr val="14532D"/>
                </a:solidFill>
                <a:latin typeface="Cambria" panose="02040503050406030204" pitchFamily="18" charset="0"/>
              </a:rPr>
              <a:t>Watch and act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D35455-C260-BCF5-DD60-D7F7221605E7}"/>
              </a:ext>
            </a:extLst>
          </p:cNvPr>
          <p:cNvSpPr txBox="1"/>
          <p:nvPr/>
        </p:nvSpPr>
        <p:spPr>
          <a:xfrm>
            <a:off x="1346200" y="41656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1B2430"/>
                </a:solidFill>
                <a:latin typeface="Calibri" panose="020F0502020204030204" pitchFamily="34" charset="0"/>
              </a:rPr>
              <a:t>alerts appear; acknowledge, override a fan, change a setting</a:t>
            </a:r>
            <a:endParaRPr lang="en-IN" sz="1300">
              <a:solidFill>
                <a:srgbClr val="1B2430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E8147D1-EBD2-03D7-1E3E-D0D51203529E}"/>
              </a:ext>
            </a:extLst>
          </p:cNvPr>
          <p:cNvSpPr/>
          <p:nvPr/>
        </p:nvSpPr>
        <p:spPr>
          <a:xfrm>
            <a:off x="558800" y="5029200"/>
            <a:ext cx="558800" cy="558800"/>
          </a:xfrm>
          <a:prstGeom prst="ellipse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b="1">
                <a:solidFill>
                  <a:srgbClr val="FFFFFF"/>
                </a:solidFill>
                <a:latin typeface="Cambria" panose="02040503050406030204" pitchFamily="18" charset="0"/>
              </a:rPr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B31F92-479D-4CA8-DD8D-CEE2AEE7A10D}"/>
              </a:ext>
            </a:extLst>
          </p:cNvPr>
          <p:cNvSpPr txBox="1"/>
          <p:nvPr/>
        </p:nvSpPr>
        <p:spPr>
          <a:xfrm>
            <a:off x="1346200" y="50038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700" b="1">
                <a:solidFill>
                  <a:srgbClr val="14532D"/>
                </a:solidFill>
                <a:latin typeface="Cambria" panose="02040503050406030204" pitchFamily="18" charset="0"/>
              </a:rPr>
              <a:t>Run all tests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A72FAC-1BD9-BCD3-24B1-60994DDD50E3}"/>
              </a:ext>
            </a:extLst>
          </p:cNvPr>
          <p:cNvSpPr txBox="1"/>
          <p:nvPr/>
        </p:nvSpPr>
        <p:spPr>
          <a:xfrm>
            <a:off x="1346200" y="5384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1B2430"/>
                </a:solidFill>
                <a:latin typeface="Courier New" panose="02070309020205020404" pitchFamily="49" charset="0"/>
              </a:rPr>
              <a:t>python -m tests.run_tests</a:t>
            </a:r>
            <a:endParaRPr lang="en-IN" sz="1300">
              <a:solidFill>
                <a:srgbClr val="1B2430"/>
              </a:solidFill>
              <a:latin typeface="Courier New" panose="02070309020205020404" pitchFamily="49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20374D0-44BA-B10C-599F-34D0D0ECC7C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7800" y="1432123"/>
            <a:ext cx="5105400" cy="1834753"/>
          </a:xfrm>
          <a:prstGeom prst="rect">
            <a:avLst/>
          </a:prstGeom>
          <a:ln w="9525">
            <a:solidFill>
              <a:srgbClr val="D7DCE4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E50946F-9C51-22A1-A629-644EF346B00B}"/>
              </a:ext>
            </a:extLst>
          </p:cNvPr>
          <p:cNvSpPr txBox="1"/>
          <p:nvPr/>
        </p:nvSpPr>
        <p:spPr>
          <a:xfrm>
            <a:off x="6527800" y="3556000"/>
            <a:ext cx="5105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>
                <a:solidFill>
                  <a:srgbClr val="5D6676"/>
                </a:solidFill>
                <a:latin typeface="Calibri" panose="020F0502020204030204" pitchFamily="34" charset="0"/>
              </a:rPr>
              <a:t>CR-201 after everything was switched off: AC inferred OFF (room warmed by 0.24 deg C)</a:t>
            </a:r>
            <a:endParaRPr lang="en-IN" sz="1200">
              <a:solidFill>
                <a:srgbClr val="5D6676"/>
              </a:solidFill>
              <a:latin typeface="Calibri" panose="020F0502020204030204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939DDE8-2C3C-59BE-5225-935C0851750B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5522" y="4191000"/>
            <a:ext cx="2889956" cy="2032000"/>
          </a:xfrm>
          <a:prstGeom prst="rect">
            <a:avLst/>
          </a:prstGeom>
          <a:ln w="9525">
            <a:solidFill>
              <a:srgbClr val="D7DCE4"/>
            </a:solidFill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A8BB630-3876-7AAC-7525-E2544C327F22}"/>
              </a:ext>
            </a:extLst>
          </p:cNvPr>
          <p:cNvSpPr txBox="1"/>
          <p:nvPr/>
        </p:nvSpPr>
        <p:spPr>
          <a:xfrm>
            <a:off x="558800" y="65278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5D6676"/>
                </a:solidFill>
                <a:latin typeface="Calibri" panose="020F0502020204030204" pitchFamily="34" charset="0"/>
              </a:rPr>
              <a:t>Smart Classroom Electricity Management · SE Lab PBL · Vineet Shah</a:t>
            </a:r>
            <a:endParaRPr lang="en-IN" sz="1000">
              <a:solidFill>
                <a:srgbClr val="5D6676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CB1C5F-F662-0362-21C9-09DD14D6E608}"/>
              </a:ext>
            </a:extLst>
          </p:cNvPr>
          <p:cNvSpPr txBox="1"/>
          <p:nvPr/>
        </p:nvSpPr>
        <p:spPr>
          <a:xfrm>
            <a:off x="10871200" y="65278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1000">
                <a:solidFill>
                  <a:srgbClr val="5D6676"/>
                </a:solidFill>
                <a:latin typeface="Calibri" panose="020F0502020204030204" pitchFamily="34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3952363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E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A6481F-F677-D186-6E5F-89909250506C}"/>
              </a:ext>
            </a:extLst>
          </p:cNvPr>
          <p:cNvSpPr txBox="1"/>
          <p:nvPr/>
        </p:nvSpPr>
        <p:spPr>
          <a:xfrm>
            <a:off x="660400" y="508000"/>
            <a:ext cx="1107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3400" b="1">
                <a:solidFill>
                  <a:srgbClr val="FFFFFF"/>
                </a:solidFill>
                <a:latin typeface="Cambria" panose="02040503050406030204" pitchFamily="18" charset="0"/>
              </a:rPr>
              <a:t>Conclusion and next steps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1C230C-7012-4F21-75A5-39CD0EE8E2E0}"/>
              </a:ext>
            </a:extLst>
          </p:cNvPr>
          <p:cNvSpPr txBox="1"/>
          <p:nvPr/>
        </p:nvSpPr>
        <p:spPr>
          <a:xfrm>
            <a:off x="660400" y="14732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77800" indent="-177800">
              <a:spcAft>
                <a:spcPts val="1000"/>
              </a:spcAft>
            </a:pPr>
            <a:r>
              <a:rPr lang="en-US" b="1">
                <a:solidFill>
                  <a:srgbClr val="F59E0B"/>
                </a:solidFill>
                <a:latin typeface="Cambria" panose="02040503050406030204" pitchFamily="18" charset="0"/>
              </a:rPr>
              <a:t>What was achieved</a:t>
            </a:r>
          </a:p>
          <a:p>
            <a:pPr marL="177800" indent="-177800">
              <a:spcAft>
                <a:spcPts val="1000"/>
              </a:spcAft>
              <a:buFont typeface="+mj-lt"/>
              <a:buChar char="•"/>
            </a:pPr>
            <a:r>
              <a:rPr lang="en-US" sz="1600">
                <a:solidFill>
                  <a:srgbClr val="E6EFE9"/>
                </a:solidFill>
                <a:latin typeface="Calibri" panose="020F0502020204030204" pitchFamily="34" charset="0"/>
              </a:rPr>
              <a:t>Two working modules with database, validation and integration</a:t>
            </a:r>
          </a:p>
          <a:p>
            <a:pPr marL="177800" indent="-177800">
              <a:spcAft>
                <a:spcPts val="1000"/>
              </a:spcAft>
              <a:buFont typeface="+mj-lt"/>
              <a:buChar char="•"/>
            </a:pPr>
            <a:r>
              <a:rPr lang="en-US" sz="1600">
                <a:solidFill>
                  <a:srgbClr val="E6EFE9"/>
                </a:solidFill>
                <a:latin typeface="Calibri" panose="020F0502020204030204" pitchFamily="34" charset="0"/>
              </a:rPr>
              <a:t>Jira project: 45 work items, 3 sprints, bugs tracked to closure</a:t>
            </a:r>
          </a:p>
          <a:p>
            <a:pPr marL="177800" indent="-177800">
              <a:spcAft>
                <a:spcPts val="1000"/>
              </a:spcAft>
              <a:buFont typeface="+mj-lt"/>
              <a:buChar char="•"/>
            </a:pPr>
            <a:r>
              <a:rPr lang="en-US" sz="1600">
                <a:solidFill>
                  <a:srgbClr val="E6EFE9"/>
                </a:solidFill>
                <a:latin typeface="Calibri" panose="020F0502020204030204" pitchFamily="34" charset="0"/>
              </a:rPr>
              <a:t>78 test cases; 4 bugs found, fixed and retested; 78 / 78 pass</a:t>
            </a:r>
            <a:endParaRPr lang="en-IN" sz="1600">
              <a:solidFill>
                <a:srgbClr val="E6EFE9"/>
              </a:solidFill>
              <a:latin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EE29FB-CA28-ABC7-BFB8-42C40367E535}"/>
              </a:ext>
            </a:extLst>
          </p:cNvPr>
          <p:cNvSpPr txBox="1"/>
          <p:nvPr/>
        </p:nvSpPr>
        <p:spPr>
          <a:xfrm>
            <a:off x="6527800" y="14732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77800" indent="-177800">
              <a:spcAft>
                <a:spcPts val="1000"/>
              </a:spcAft>
            </a:pPr>
            <a:r>
              <a:rPr lang="en-US" b="1">
                <a:solidFill>
                  <a:srgbClr val="F59E0B"/>
                </a:solidFill>
                <a:latin typeface="Cambria" panose="02040503050406030204" pitchFamily="18" charset="0"/>
              </a:rPr>
              <a:t>Next steps</a:t>
            </a:r>
          </a:p>
          <a:p>
            <a:pPr marL="177800" indent="-177800">
              <a:spcAft>
                <a:spcPts val="1000"/>
              </a:spcAft>
              <a:buFont typeface="+mj-lt"/>
              <a:buChar char="•"/>
            </a:pPr>
            <a:r>
              <a:rPr lang="en-US" sz="1600">
                <a:solidFill>
                  <a:srgbClr val="E6EFE9"/>
                </a:solidFill>
                <a:latin typeface="Calibri" panose="020F0502020204030204" pitchFamily="34" charset="0"/>
              </a:rPr>
              <a:t>Connect the real CCTV + YOLOv8, DHT11 sensors and ESP32</a:t>
            </a:r>
          </a:p>
          <a:p>
            <a:pPr marL="177800" indent="-177800">
              <a:spcAft>
                <a:spcPts val="1000"/>
              </a:spcAft>
              <a:buFont typeface="+mj-lt"/>
              <a:buChar char="•"/>
            </a:pPr>
            <a:r>
              <a:rPr lang="en-US" sz="1600">
                <a:solidFill>
                  <a:srgbClr val="E6EFE9"/>
                </a:solidFill>
                <a:latin typeface="Calibri" panose="020F0502020204030204" pitchFamily="34" charset="0"/>
              </a:rPr>
              <a:t>MQTT between classroom node and server</a:t>
            </a:r>
          </a:p>
          <a:p>
            <a:pPr marL="177800" indent="-177800">
              <a:spcAft>
                <a:spcPts val="1000"/>
              </a:spcAft>
              <a:buFont typeface="+mj-lt"/>
              <a:buChar char="•"/>
            </a:pPr>
            <a:r>
              <a:rPr lang="en-US" sz="1600">
                <a:solidFill>
                  <a:srgbClr val="E6EFE9"/>
                </a:solidFill>
                <a:latin typeface="Calibri" panose="020F0502020204030204" pitchFamily="34" charset="0"/>
              </a:rPr>
              <a:t>Daily energy-wastage report and mobile alerts</a:t>
            </a:r>
            <a:endParaRPr lang="en-IN" sz="1600">
              <a:solidFill>
                <a:srgbClr val="E6EFE9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09C989-68D6-7186-B27D-775DBBADBBC5}"/>
              </a:ext>
            </a:extLst>
          </p:cNvPr>
          <p:cNvSpPr txBox="1"/>
          <p:nvPr/>
        </p:nvSpPr>
        <p:spPr>
          <a:xfrm>
            <a:off x="660400" y="5080000"/>
            <a:ext cx="1107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2400" b="1">
                <a:solidFill>
                  <a:srgbClr val="FFFFFF"/>
                </a:solidFill>
                <a:latin typeface="Cambria" panose="02040503050406030204" pitchFamily="18" charset="0"/>
              </a:rPr>
              <a:t>Thank you · Questions?</a:t>
            </a:r>
          </a:p>
        </p:txBody>
      </p:sp>
    </p:spTree>
    <p:extLst>
      <p:ext uri="{BB962C8B-B14F-4D97-AF65-F5344CB8AC3E}">
        <p14:creationId xmlns:p14="http://schemas.microsoft.com/office/powerpoint/2010/main" val="252761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1442</Words>
  <Application>Microsoft Office PowerPoint</Application>
  <PresentationFormat>Custom</PresentationFormat>
  <Paragraphs>208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Vineet Shah</dc:creator>
  <cp:lastModifiedBy>Vineet Shah</cp:lastModifiedBy>
  <cp:revision>1</cp:revision>
  <dcterms:created xsi:type="dcterms:W3CDTF">2026-10-25T19:18:47Z</dcterms:created>
  <dcterms:modified xsi:type="dcterms:W3CDTF">2026-10-25T19:18:47Z</dcterms:modified>
</cp:coreProperties>
</file>