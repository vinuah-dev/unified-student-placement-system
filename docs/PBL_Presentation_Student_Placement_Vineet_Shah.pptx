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D0DE3-6E8A-4E21-B356-A1C49734CF6F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52FFF-060A-4B68-826B-92C2D350F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8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 PBL on my lab case study, the Unified Student Placement System. Two modules of the SRS were built, managed in Jira and tested with 155 test cases.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141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 statement from the SRS scope (1.4): spreadsheets, e-mail threads and notice boards are replaced by one platform.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34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Three-tier design from SRS 2.1. Login, interview scheduling, offer documents and reports are other SRS modules and are outside this PBL; the page lets me pick the acting user.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725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Screenshot: student Rohan (ME, 2 backlogs, batch 2022-2026) sees every unmet criterion and the Apply button is disabled. Rules are in app/rules.py - EligibilityCriteria.evaluate() from the Expt-3 class diagram.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119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statechart I drew in Expt-5 is coded as a transition table (APPLICATION_TRANSITIONS); anything the diagram does not allow is refused with a 409 message.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533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Recruiter posts -&gt; officer's pending list updates; officer approves -&gt; eligible students' job boards update and they get a 'New job for you' notification.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265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Site rbunagpur-team-zhx8jd75.atlassian.net, space Unified Student Placement System (key USPS), Scrum, team-managed. Screenshot: backlog of the active Sprint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290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Reports dashboard: 49 work items by status, type and assignee.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450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results come from docs/requirements.md, written before the first run. A fixed test clock lets the tests cross deadlines. python -m tests.run_tests records the actual result of each case.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64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BUG-02 and BUG-03 are race conditions: two requests read the same state before either saved. Fixed with one re-entrant lock around every check-and-update. BUG-04 also changed requirement FR-1.4.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52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dark bar at the top of each screenshot is added by the UI test harness and shows the test case, time and result. Evidence for BUG-02 to BUG-04 is in the report (run 3 vs run 4).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54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order: recruiter Ritika posts, officer approves in the second window, Diya applies, recruiter takes the application to Offer Issued, Diya accepts and becomes placed; then the test run.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484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results and the remaining SRS modules.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52FFF-060A-4B68-826B-92C2D350F91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555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F35F-3562-F483-4BBF-C12D097A6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A4A04-D4B2-C8BD-4B3E-7CF463192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2911E-DCA0-E952-BBA3-D91EBD06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0CE6B-13B9-2E6D-0901-A0F6AF9D8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B835F-E9D3-9BA1-EC8B-0E30ED4D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14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DBFA-000D-5C74-2A6D-07F96FF0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D5235-A267-9361-CEA9-620FB7A65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42B65-7CFE-8AF6-0B3E-FC68AF29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C0E7A-857F-4288-214A-4C268AFA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D47B5-47AA-9391-A3CC-213E01A8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2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90BB-DB20-A56E-C55E-E272E575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3C535-B309-17C8-B046-F4664781E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34253-1E36-6ADB-14C3-576EF4D2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FBCCC-6B83-911E-2B5F-F1519285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9621A-AF3A-530F-23F9-6A6807DA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80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6F45-BD7D-B0D4-842C-59A0AD81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FC3A-1289-7215-E499-AFE64C145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33FBA-517C-008E-1D40-5CCAA0B3D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3C845-B4D0-4D5D-0533-8C7C2E49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908B9-5F4F-F0C1-E3B6-C643F9A3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2B7E9-3F39-A0BC-AD57-F33387EB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99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AAF9-7CE0-0D81-1CFB-EF50C7E9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84AC6-6A55-0AF6-1F8C-A538FEE38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F35FC-088C-B494-785E-D68ED7C65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5E97B-B093-C2F2-EF21-89193176C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496D31-FECE-D517-1BE3-B6FB4FAB2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D4BCD-50BF-4673-DD0D-BCC8286C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528A97-464B-CF62-52E6-9BB8A94A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31970-635B-9EB0-1429-BE504A9C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15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8568-D679-C8FD-C8C8-A71AEB97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BDBDC-3A60-C6D0-AFD0-67F69AFDF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8B176-E4EE-8B2C-FEDF-38DB7F0F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28A7F-698B-BCCE-C137-9C5AB7A6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25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7F640-E41D-BE80-6E42-BC37D89A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5606AC-E038-70CF-ABEA-B77A16F9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E8A4E-D1AE-02DB-C3E9-4A358352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1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891F-E2E2-60E8-FBF1-CF68DC0B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9C46-3868-A0EB-5E2E-668E16491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A9B96-E3AC-E072-CD57-E93D0765B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B9FF8-81B6-544B-A84C-8C4859E3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13E12-254C-7F65-2417-F605EB02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D8FD3-58DD-24AB-C414-FDB1BF48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72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6739-2D7E-B036-E743-ACDB58F6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4DD71-C2B1-F97B-1638-98B825682A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B81A5-62C9-A462-E4B4-630721764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9A1EF-3F27-647E-32E4-294DBE0C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94D54-D76A-8838-E798-2F5E6856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CEB9E-BBAA-2092-817A-2548E9B8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55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4079-AEC7-38E3-8F62-74DCF503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7C9AB-D421-2270-BEF6-84ADE4165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0E5A7-B530-C663-B061-358F9F44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3F42-5872-0E15-8CFA-3887FE15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1085F-18F7-5ED5-C809-E692AFE8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697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1D9DA-0FFB-E9D3-68A7-A606708BE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02BCE-3000-B4BC-03A2-A7C2DF7C4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B669E-B3CA-E939-E80C-851625A1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C7FD8-481C-E1A1-5DC4-A9939091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136A2-0591-F6B8-38CB-D5F37C86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7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B5CE2-795B-0CA3-576C-C5518DFF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626A9-43EC-98D3-8BB5-0E5BAD0A3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C3A75-25B7-D2F4-2939-9516CA0C4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945E4-1CC8-4D4E-AB3E-0F3DDF4CE717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FEEBC-28FF-D56D-8C5D-E225307B6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0EA82-0220-ADF4-D700-A07348EAC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A1AC6-2293-4803-AC4C-CF76DF1B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67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CAEB1-E501-B64D-B6AB-97A73DED6726}"/>
              </a:ext>
            </a:extLst>
          </p:cNvPr>
          <p:cNvSpPr txBox="1"/>
          <p:nvPr/>
        </p:nvSpPr>
        <p:spPr>
          <a:xfrm>
            <a:off x="660400" y="889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59E0B"/>
                </a:solidFill>
                <a:latin typeface="Calibri" panose="020F0502020204030204" pitchFamily="34" charset="0"/>
              </a:rPr>
              <a:t>SOFTWARE ENGINEERING LAB · PROJECT-BASED LEARNING</a:t>
            </a:r>
            <a:endParaRPr lang="en-IN" sz="1300" b="1">
              <a:solidFill>
                <a:srgbClr val="F59E0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0C0E0-37CF-3602-0AE9-F20E71612EF8}"/>
              </a:ext>
            </a:extLst>
          </p:cNvPr>
          <p:cNvSpPr txBox="1"/>
          <p:nvPr/>
        </p:nvSpPr>
        <p:spPr>
          <a:xfrm>
            <a:off x="660400" y="13208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200" b="1">
                <a:solidFill>
                  <a:srgbClr val="FFFFFF"/>
                </a:solidFill>
                <a:latin typeface="Cambria" panose="02040503050406030204" pitchFamily="18" charset="0"/>
              </a:rPr>
              <a:t>Unified Student Placement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CE08-BC93-1693-7F91-952BBE7739FC}"/>
              </a:ext>
            </a:extLst>
          </p:cNvPr>
          <p:cNvSpPr txBox="1"/>
          <p:nvPr/>
        </p:nvSpPr>
        <p:spPr>
          <a:xfrm>
            <a:off x="660400" y="3327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C7D2F0"/>
                </a:solidFill>
                <a:latin typeface="Calibri" panose="020F0502020204030204" pitchFamily="34" charset="0"/>
              </a:rPr>
              <a:t>Job Posting &amp; Eligibility Verification  ·  Job Application &amp; Tracking</a:t>
            </a:r>
            <a:endParaRPr lang="en-IN">
              <a:solidFill>
                <a:srgbClr val="C7D2F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0D565-DC8E-E4D9-59D3-4EB934B31BE0}"/>
              </a:ext>
            </a:extLst>
          </p:cNvPr>
          <p:cNvSpPr txBox="1"/>
          <p:nvPr/>
        </p:nvSpPr>
        <p:spPr>
          <a:xfrm>
            <a:off x="660400" y="50546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>
                <a:solidFill>
                  <a:srgbClr val="DDE3F2"/>
                </a:solidFill>
                <a:latin typeface="Calibri" panose="020F0502020204030204" pitchFamily="34" charset="0"/>
              </a:rPr>
              <a:t>Vineet Shah  ·  Roll No. 28  ·  5S CSE, A6-B2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DDE3F2"/>
                </a:solidFill>
                <a:latin typeface="Calibri" panose="020F0502020204030204" pitchFamily="34" charset="0"/>
              </a:rPr>
              <a:t>Software Engineering Lab (24CS01PR0502)  ·  Prof. D. A. Borikar</a:t>
            </a:r>
            <a:endParaRPr lang="en-IN" sz="1500">
              <a:solidFill>
                <a:srgbClr val="DDE3F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B21A41-1C2F-1B8D-1EEB-077D832892E0}"/>
              </a:ext>
            </a:extLst>
          </p:cNvPr>
          <p:cNvSpPr/>
          <p:nvPr/>
        </p:nvSpPr>
        <p:spPr>
          <a:xfrm>
            <a:off x="8890000" y="812800"/>
            <a:ext cx="1498600" cy="14986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05449-0EFB-202C-EA67-E607B47CDD9E}"/>
              </a:ext>
            </a:extLst>
          </p:cNvPr>
          <p:cNvSpPr txBox="1"/>
          <p:nvPr/>
        </p:nvSpPr>
        <p:spPr>
          <a:xfrm>
            <a:off x="10541000" y="1295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DDE3F2"/>
                </a:solidFill>
                <a:latin typeface="Calibri" panose="020F0502020204030204" pitchFamily="34" charset="0"/>
              </a:rPr>
              <a:t>modules built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63C710-8C6A-00FC-7349-A356224D0A7D}"/>
              </a:ext>
            </a:extLst>
          </p:cNvPr>
          <p:cNvSpPr/>
          <p:nvPr/>
        </p:nvSpPr>
        <p:spPr>
          <a:xfrm>
            <a:off x="8890000" y="2590800"/>
            <a:ext cx="1498600" cy="14986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0" b="1">
                <a:solidFill>
                  <a:srgbClr val="FFFFFF"/>
                </a:solidFill>
                <a:latin typeface="Cambria" panose="02040503050406030204" pitchFamily="18" charset="0"/>
              </a:rPr>
              <a:t>155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B86D3-35FE-7651-868E-F61FDB1DABA1}"/>
              </a:ext>
            </a:extLst>
          </p:cNvPr>
          <p:cNvSpPr txBox="1"/>
          <p:nvPr/>
        </p:nvSpPr>
        <p:spPr>
          <a:xfrm>
            <a:off x="10541000" y="3073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DDE3F2"/>
                </a:solidFill>
                <a:latin typeface="Calibri" panose="020F0502020204030204" pitchFamily="34" charset="0"/>
              </a:rPr>
              <a:t>test cases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C6591D-6C3C-E278-9E8A-A2BE85069E75}"/>
              </a:ext>
            </a:extLst>
          </p:cNvPr>
          <p:cNvSpPr/>
          <p:nvPr/>
        </p:nvSpPr>
        <p:spPr>
          <a:xfrm>
            <a:off x="8890000" y="4368800"/>
            <a:ext cx="1498600" cy="14986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0" b="1">
                <a:solidFill>
                  <a:srgbClr val="FFFFFF"/>
                </a:solidFill>
                <a:latin typeface="Cambria" panose="02040503050406030204" pitchFamily="18" charset="0"/>
              </a:rPr>
              <a:t>49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3E936-D76E-1252-9ECE-7802D129594B}"/>
              </a:ext>
            </a:extLst>
          </p:cNvPr>
          <p:cNvSpPr txBox="1"/>
          <p:nvPr/>
        </p:nvSpPr>
        <p:spPr>
          <a:xfrm>
            <a:off x="10541000" y="4851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DDE3F2"/>
                </a:solidFill>
                <a:latin typeface="Calibri" panose="020F0502020204030204" pitchFamily="34" charset="0"/>
              </a:rPr>
              <a:t>Jira work items</a:t>
            </a:r>
          </a:p>
        </p:txBody>
      </p:sp>
    </p:spTree>
    <p:extLst>
      <p:ext uri="{BB962C8B-B14F-4D97-AF65-F5344CB8AC3E}">
        <p14:creationId xmlns:p14="http://schemas.microsoft.com/office/powerpoint/2010/main" val="264792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2B8BCA9-9FED-E232-35CF-F9F0E725A1B6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E3A8A"/>
                </a:solidFill>
                <a:latin typeface="Cambria" panose="02040503050406030204" pitchFamily="18" charset="0"/>
              </a:rPr>
              <a:t>Why campus placement needs one system</a:t>
            </a:r>
            <a:endParaRPr lang="en-IN" sz="30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03CE6D-6C45-883A-3A4E-779CFA1CF233}"/>
              </a:ext>
            </a:extLst>
          </p:cNvPr>
          <p:cNvSpPr/>
          <p:nvPr/>
        </p:nvSpPr>
        <p:spPr>
          <a:xfrm>
            <a:off x="558800" y="1422400"/>
            <a:ext cx="3488267" cy="25400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172ADA-4FAE-5529-878C-990FAEBD2400}"/>
              </a:ext>
            </a:extLst>
          </p:cNvPr>
          <p:cNvSpPr/>
          <p:nvPr/>
        </p:nvSpPr>
        <p:spPr>
          <a:xfrm>
            <a:off x="762000" y="1625600"/>
            <a:ext cx="431800" cy="431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54449-67F6-4446-7CDE-BC3A7525CC9D}"/>
              </a:ext>
            </a:extLst>
          </p:cNvPr>
          <p:cNvSpPr txBox="1"/>
          <p:nvPr/>
        </p:nvSpPr>
        <p:spPr>
          <a:xfrm>
            <a:off x="1346200" y="1651000"/>
            <a:ext cx="2497667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E3A8A"/>
                </a:solidFill>
                <a:latin typeface="Cambria" panose="02040503050406030204" pitchFamily="18" charset="0"/>
              </a:rPr>
              <a:t>Manual screening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BED60-301B-08AE-BAC8-DB52A20D1873}"/>
              </a:ext>
            </a:extLst>
          </p:cNvPr>
          <p:cNvSpPr txBox="1"/>
          <p:nvPr/>
        </p:nvSpPr>
        <p:spPr>
          <a:xfrm>
            <a:off x="787400" y="2209800"/>
            <a:ext cx="3031067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Placement officers check every student against every company's CGPA, branch and backlog rules by hand.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CF1756-976D-E53A-CC83-5A6874F93562}"/>
              </a:ext>
            </a:extLst>
          </p:cNvPr>
          <p:cNvSpPr/>
          <p:nvPr/>
        </p:nvSpPr>
        <p:spPr>
          <a:xfrm>
            <a:off x="4351867" y="1422400"/>
            <a:ext cx="3488266" cy="25400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433FA5-EC3C-9532-8E9B-41E3DC613382}"/>
              </a:ext>
            </a:extLst>
          </p:cNvPr>
          <p:cNvSpPr/>
          <p:nvPr/>
        </p:nvSpPr>
        <p:spPr>
          <a:xfrm>
            <a:off x="4555067" y="1625600"/>
            <a:ext cx="431800" cy="431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33333-78E8-BE94-633D-42902A3E1313}"/>
              </a:ext>
            </a:extLst>
          </p:cNvPr>
          <p:cNvSpPr txBox="1"/>
          <p:nvPr/>
        </p:nvSpPr>
        <p:spPr>
          <a:xfrm>
            <a:off x="5139267" y="1651000"/>
            <a:ext cx="2497667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E3A8A"/>
                </a:solidFill>
                <a:latin typeface="Cambria" panose="02040503050406030204" pitchFamily="18" charset="0"/>
              </a:rPr>
              <a:t>Errors and missed deadlines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71D834-B98A-BBE5-9FAF-66A949E1A018}"/>
              </a:ext>
            </a:extLst>
          </p:cNvPr>
          <p:cNvSpPr txBox="1"/>
          <p:nvPr/>
        </p:nvSpPr>
        <p:spPr>
          <a:xfrm>
            <a:off x="4580467" y="2209800"/>
            <a:ext cx="3031067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Ineligible and duplicate applications, stale copies of data in spreadsheets, late applications.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7E79A7-471E-0C1D-73F6-BF16293BBB2E}"/>
              </a:ext>
            </a:extLst>
          </p:cNvPr>
          <p:cNvSpPr/>
          <p:nvPr/>
        </p:nvSpPr>
        <p:spPr>
          <a:xfrm>
            <a:off x="8144933" y="1422400"/>
            <a:ext cx="3488267" cy="25400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288641-3A33-F61C-B19B-EAD89C39FA42}"/>
              </a:ext>
            </a:extLst>
          </p:cNvPr>
          <p:cNvSpPr/>
          <p:nvPr/>
        </p:nvSpPr>
        <p:spPr>
          <a:xfrm>
            <a:off x="8348133" y="1625600"/>
            <a:ext cx="431800" cy="431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7D3FD-98F3-788A-5801-25B962198E50}"/>
              </a:ext>
            </a:extLst>
          </p:cNvPr>
          <p:cNvSpPr txBox="1"/>
          <p:nvPr/>
        </p:nvSpPr>
        <p:spPr>
          <a:xfrm>
            <a:off x="8932333" y="1651000"/>
            <a:ext cx="2497667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E3A8A"/>
                </a:solidFill>
                <a:latin typeface="Cambria" panose="02040503050406030204" pitchFamily="18" charset="0"/>
              </a:rPr>
              <a:t>No visibility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9BC827-C659-9489-0F49-C9BB03EACCC2}"/>
              </a:ext>
            </a:extLst>
          </p:cNvPr>
          <p:cNvSpPr txBox="1"/>
          <p:nvPr/>
        </p:nvSpPr>
        <p:spPr>
          <a:xfrm>
            <a:off x="8373533" y="2209800"/>
            <a:ext cx="3031067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Students and recruiters cannot see where an application stands; updates go out by e-mail and notice boards.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737141-4B86-7013-05D6-D17D489464DD}"/>
              </a:ext>
            </a:extLst>
          </p:cNvPr>
          <p:cNvSpPr/>
          <p:nvPr/>
        </p:nvSpPr>
        <p:spPr>
          <a:xfrm>
            <a:off x="558800" y="4318000"/>
            <a:ext cx="11074400" cy="1219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C09F7-CE8D-4FA7-73A1-AB562D2BC1E1}"/>
              </a:ext>
            </a:extLst>
          </p:cNvPr>
          <p:cNvSpPr txBox="1"/>
          <p:nvPr/>
        </p:nvSpPr>
        <p:spPr>
          <a:xfrm>
            <a:off x="812800" y="452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500" b="1">
                <a:solidFill>
                  <a:srgbClr val="1E3A8A"/>
                </a:solidFill>
                <a:latin typeface="Calibri" panose="020F0502020204030204" pitchFamily="34" charset="0"/>
              </a:rPr>
              <a:t>USPS (my SE lab SRS)</a:t>
            </a:r>
          </a:p>
          <a:p>
            <a:pPr>
              <a:spcAft>
                <a:spcPts val="200"/>
              </a:spcAft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One web platform for students, recruiters and the placement cell: approved job postings, automatic eligibility with reasons, applications with tracking ids and a live status timeline.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787CF-AA0E-C89A-82FC-32BA8734D65C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FCDC0B-8AE5-27B8-4238-5C60B6F759B7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549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6D447A-EACF-7E79-184B-AE5FFA2C1322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000" b="1">
                <a:solidFill>
                  <a:srgbClr val="1E3A8A"/>
                </a:solidFill>
                <a:latin typeface="Cambria" panose="02040503050406030204" pitchFamily="18" charset="0"/>
              </a:rPr>
              <a:t>What this PBL builds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BB2781-8752-F56E-565F-D56B59A0654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615109"/>
            <a:ext cx="7112000" cy="3957982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76EDAE-9CEF-CB73-A7F8-30EE866467A6}"/>
              </a:ext>
            </a:extLst>
          </p:cNvPr>
          <p:cNvSpPr/>
          <p:nvPr/>
        </p:nvSpPr>
        <p:spPr>
          <a:xfrm>
            <a:off x="7924800" y="1168400"/>
            <a:ext cx="3708400" cy="2311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0B302-F541-8BF7-AA09-B4DBC187E8C4}"/>
              </a:ext>
            </a:extLst>
          </p:cNvPr>
          <p:cNvSpPr txBox="1"/>
          <p:nvPr/>
        </p:nvSpPr>
        <p:spPr>
          <a:xfrm>
            <a:off x="8153400" y="1397000"/>
            <a:ext cx="327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E3A8A"/>
                </a:solidFill>
                <a:latin typeface="Cambria" panose="02040503050406030204" pitchFamily="18" charset="0"/>
              </a:rPr>
              <a:t>Implemented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78F25-AD8D-C991-44BC-EE3010EE9986}"/>
              </a:ext>
            </a:extLst>
          </p:cNvPr>
          <p:cNvSpPr txBox="1"/>
          <p:nvPr/>
        </p:nvSpPr>
        <p:spPr>
          <a:xfrm>
            <a:off x="8153400" y="19558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Module 1 - job posting, approval, search, eligibility check
Module 2 - application, statechart workflow, tracking, notifications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0538A8-EF9D-104F-5F10-7A3D95FA2B16}"/>
              </a:ext>
            </a:extLst>
          </p:cNvPr>
          <p:cNvSpPr/>
          <p:nvPr/>
        </p:nvSpPr>
        <p:spPr>
          <a:xfrm>
            <a:off x="7924800" y="3683000"/>
            <a:ext cx="3708400" cy="2311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1FBDD-DEA4-E29B-64A8-866D5815B649}"/>
              </a:ext>
            </a:extLst>
          </p:cNvPr>
          <p:cNvSpPr txBox="1"/>
          <p:nvPr/>
        </p:nvSpPr>
        <p:spPr>
          <a:xfrm>
            <a:off x="8153400" y="3911600"/>
            <a:ext cx="327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E3A8A"/>
                </a:solidFill>
                <a:latin typeface="Cambria" panose="02040503050406030204" pitchFamily="18" charset="0"/>
              </a:rPr>
              <a:t>Built from my lab work</a:t>
            </a:r>
            <a:endParaRPr lang="en-IN" sz="17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DC354-3083-E396-0621-745E23A626BB}"/>
              </a:ext>
            </a:extLst>
          </p:cNvPr>
          <p:cNvSpPr txBox="1"/>
          <p:nvPr/>
        </p:nvSpPr>
        <p:spPr>
          <a:xfrm>
            <a:off x="8153400" y="44704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SRS FR-09 to FR-17, use cases UC-1 / UC-2, Expt-3 class diagram, Expt-5 statechart, SRS 6.1 tables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1DA71-331D-7771-33B5-73C83570E3ED}"/>
              </a:ext>
            </a:extLst>
          </p:cNvPr>
          <p:cNvSpPr txBox="1"/>
          <p:nvPr/>
        </p:nvSpPr>
        <p:spPr>
          <a:xfrm>
            <a:off x="558800" y="6172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>
                <a:solidFill>
                  <a:srgbClr val="5D6676"/>
                </a:solidFill>
                <a:latin typeface="Calibri" panose="020F0502020204030204" pitchFamily="34" charset="0"/>
              </a:rPr>
              <a:t>Python 3.11 standard library · SQLite · HTML, CSS, JavaScript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86EDB-AAED-61E0-35C9-C9682412A5B9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ED1BE-EF9A-2325-6ED9-AEC94FE96721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772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4B71B2-0DCB-4B35-DBC8-97D6A1B8BDC5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E3A8A"/>
                </a:solidFill>
                <a:latin typeface="Cambria" panose="02040503050406030204" pitchFamily="18" charset="0"/>
              </a:rPr>
              <a:t>Module 1 · Job posting and eligibility verification</a:t>
            </a:r>
            <a:endParaRPr lang="en-IN" sz="30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625920-DBCB-5A08-DCBF-670EB5B18EB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820466"/>
            <a:ext cx="5334000" cy="3750469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5023B5-1BE2-B6F3-BA9A-70A30E7BA292}"/>
              </a:ext>
            </a:extLst>
          </p:cNvPr>
          <p:cNvSpPr/>
          <p:nvPr/>
        </p:nvSpPr>
        <p:spPr>
          <a:xfrm>
            <a:off x="6197600" y="1117600"/>
            <a:ext cx="5435600" cy="914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8B18A1-40AA-39D1-0FDF-ACB5B65F0BFF}"/>
              </a:ext>
            </a:extLst>
          </p:cNvPr>
          <p:cNvSpPr/>
          <p:nvPr/>
        </p:nvSpPr>
        <p:spPr>
          <a:xfrm>
            <a:off x="6375400" y="1358900"/>
            <a:ext cx="431800" cy="4318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DA339-3943-3B4B-9221-A8FC348EF30C}"/>
              </a:ext>
            </a:extLst>
          </p:cNvPr>
          <p:cNvSpPr txBox="1"/>
          <p:nvPr/>
        </p:nvSpPr>
        <p:spPr>
          <a:xfrm>
            <a:off x="6985000" y="12319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Post a job (FR-10)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389C8-F3FF-FC11-6934-C1B6B1886153}"/>
              </a:ext>
            </a:extLst>
          </p:cNvPr>
          <p:cNvSpPr txBox="1"/>
          <p:nvPr/>
        </p:nvSpPr>
        <p:spPr>
          <a:xfrm>
            <a:off x="6985000" y="15367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B2430"/>
                </a:solidFill>
                <a:latin typeface="Calibri" panose="020F0502020204030204" pitchFamily="34" charset="0"/>
              </a:rPr>
              <a:t>title, package, location, deadline + eligibility rule-set; validated on the server</a:t>
            </a:r>
            <a:endParaRPr lang="en-IN" sz="12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896EA1-71BD-AAA4-74CD-8C794E957723}"/>
              </a:ext>
            </a:extLst>
          </p:cNvPr>
          <p:cNvSpPr/>
          <p:nvPr/>
        </p:nvSpPr>
        <p:spPr>
          <a:xfrm>
            <a:off x="6197600" y="2159000"/>
            <a:ext cx="5435600" cy="914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F4E3E8-73A1-CC02-7136-62D048470248}"/>
              </a:ext>
            </a:extLst>
          </p:cNvPr>
          <p:cNvSpPr/>
          <p:nvPr/>
        </p:nvSpPr>
        <p:spPr>
          <a:xfrm>
            <a:off x="6375400" y="2400300"/>
            <a:ext cx="431800" cy="4318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14031-15D5-FCF1-C3C7-16FA387053BD}"/>
              </a:ext>
            </a:extLst>
          </p:cNvPr>
          <p:cNvSpPr txBox="1"/>
          <p:nvPr/>
        </p:nvSpPr>
        <p:spPr>
          <a:xfrm>
            <a:off x="6985000" y="22733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Company approval (FR-09)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B7E8D-7892-08F5-730E-ECF99BB27D71}"/>
              </a:ext>
            </a:extLst>
          </p:cNvPr>
          <p:cNvSpPr txBox="1"/>
          <p:nvPr/>
        </p:nvSpPr>
        <p:spPr>
          <a:xfrm>
            <a:off x="6985000" y="25781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B2430"/>
                </a:solidFill>
                <a:latin typeface="Calibri" panose="020F0502020204030204" pitchFamily="34" charset="0"/>
              </a:rPr>
              <a:t>recruiter of an unapproved company cannot post</a:t>
            </a:r>
            <a:endParaRPr lang="en-IN" sz="12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0ABB52-BB9A-06B6-DA5E-27FE4848D54B}"/>
              </a:ext>
            </a:extLst>
          </p:cNvPr>
          <p:cNvSpPr/>
          <p:nvPr/>
        </p:nvSpPr>
        <p:spPr>
          <a:xfrm>
            <a:off x="6197600" y="3200400"/>
            <a:ext cx="5435600" cy="914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35613C-93F9-028D-E32D-B382ED76D252}"/>
              </a:ext>
            </a:extLst>
          </p:cNvPr>
          <p:cNvSpPr/>
          <p:nvPr/>
        </p:nvSpPr>
        <p:spPr>
          <a:xfrm>
            <a:off x="6375400" y="3441700"/>
            <a:ext cx="431800" cy="4318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D13CF-9DD5-695C-7EAC-B1FEBE08E37B}"/>
              </a:ext>
            </a:extLst>
          </p:cNvPr>
          <p:cNvSpPr txBox="1"/>
          <p:nvPr/>
        </p:nvSpPr>
        <p:spPr>
          <a:xfrm>
            <a:off x="6985000" y="33147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Officer decision (FR-11, BR-02)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63FBA-976F-F284-8C82-C242FB3D42AC}"/>
              </a:ext>
            </a:extLst>
          </p:cNvPr>
          <p:cNvSpPr txBox="1"/>
          <p:nvPr/>
        </p:nvSpPr>
        <p:spPr>
          <a:xfrm>
            <a:off x="6985000" y="36195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B2430"/>
                </a:solidFill>
                <a:latin typeface="Calibri" panose="020F0502020204030204" pitchFamily="34" charset="0"/>
              </a:rPr>
              <a:t>approve, reject or return with remarks; returned jobs are resubmitted</a:t>
            </a:r>
            <a:endParaRPr lang="en-IN" sz="12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5C12F6-7707-5C54-DFEF-D085937839FA}"/>
              </a:ext>
            </a:extLst>
          </p:cNvPr>
          <p:cNvSpPr/>
          <p:nvPr/>
        </p:nvSpPr>
        <p:spPr>
          <a:xfrm>
            <a:off x="6197600" y="4241800"/>
            <a:ext cx="5435600" cy="914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D86BA1-00A0-5D58-4311-91A6002A6CF9}"/>
              </a:ext>
            </a:extLst>
          </p:cNvPr>
          <p:cNvSpPr/>
          <p:nvPr/>
        </p:nvSpPr>
        <p:spPr>
          <a:xfrm>
            <a:off x="6375400" y="4483100"/>
            <a:ext cx="431800" cy="4318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5BDE8C-CAE8-46B8-5F79-3FEAE69B303C}"/>
              </a:ext>
            </a:extLst>
          </p:cNvPr>
          <p:cNvSpPr txBox="1"/>
          <p:nvPr/>
        </p:nvSpPr>
        <p:spPr>
          <a:xfrm>
            <a:off x="6985000" y="43561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Search and filter (FR-12)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E33D2E-65CC-B27A-28B2-EB83242F5BB5}"/>
              </a:ext>
            </a:extLst>
          </p:cNvPr>
          <p:cNvSpPr txBox="1"/>
          <p:nvPr/>
        </p:nvSpPr>
        <p:spPr>
          <a:xfrm>
            <a:off x="6985000" y="46609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50">
                <a:solidFill>
                  <a:srgbClr val="1B2430"/>
                </a:solidFill>
                <a:latin typeface="Calibri" panose="020F0502020204030204" pitchFamily="34" charset="0"/>
              </a:rPr>
              <a:t>keyword, location, minimum package, eligible only, pages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98C310-23AC-84F4-A616-DF5B967826C7}"/>
              </a:ext>
            </a:extLst>
          </p:cNvPr>
          <p:cNvSpPr/>
          <p:nvPr/>
        </p:nvSpPr>
        <p:spPr>
          <a:xfrm>
            <a:off x="6197600" y="5283200"/>
            <a:ext cx="5435600" cy="914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B2988BD-8A4C-6316-AAB2-FF1701618B31}"/>
              </a:ext>
            </a:extLst>
          </p:cNvPr>
          <p:cNvSpPr/>
          <p:nvPr/>
        </p:nvSpPr>
        <p:spPr>
          <a:xfrm>
            <a:off x="6375400" y="5524500"/>
            <a:ext cx="431800" cy="4318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4BFF3D-A58B-DDC4-5C60-8DD0FA068447}"/>
              </a:ext>
            </a:extLst>
          </p:cNvPr>
          <p:cNvSpPr txBox="1"/>
          <p:nvPr/>
        </p:nvSpPr>
        <p:spPr>
          <a:xfrm>
            <a:off x="6985000" y="53975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Eligibility check (FR-14, BR-03)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863321-5CAF-F599-9942-995C0ED11F10}"/>
              </a:ext>
            </a:extLst>
          </p:cNvPr>
          <p:cNvSpPr txBox="1"/>
          <p:nvPr/>
        </p:nvSpPr>
        <p:spPr>
          <a:xfrm>
            <a:off x="6985000" y="57023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B2430"/>
                </a:solidFill>
                <a:latin typeface="Calibri" panose="020F0502020204030204" pitchFamily="34" charset="0"/>
              </a:rPr>
              <a:t>every unmet criterion listed; Apply disabled when not eligible</a:t>
            </a:r>
            <a:endParaRPr lang="en-IN" sz="12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5A83D8-BE04-D9C9-E4D5-80394A414F9C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06896B-4E29-1A47-42DA-CBE7C7855511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3697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FAD64-DC86-2E5D-0BFA-A60EA5281229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E3A8A"/>
                </a:solidFill>
                <a:latin typeface="Cambria" panose="02040503050406030204" pitchFamily="18" charset="0"/>
              </a:rPr>
              <a:t>Module 2 · Job application and tracking</a:t>
            </a:r>
            <a:endParaRPr lang="en-IN" sz="30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E2006-80DA-E7E9-03F4-AF9D48495F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224" y="1041400"/>
            <a:ext cx="6963552" cy="304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2AC3F5-ECCE-09D6-4B20-0B5933AEEA1D}"/>
              </a:ext>
            </a:extLst>
          </p:cNvPr>
          <p:cNvSpPr/>
          <p:nvPr/>
        </p:nvSpPr>
        <p:spPr>
          <a:xfrm>
            <a:off x="558800" y="4241800"/>
            <a:ext cx="3522133" cy="21082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55E4B-28F3-9E3E-32DF-D4C1FAC88B53}"/>
              </a:ext>
            </a:extLst>
          </p:cNvPr>
          <p:cNvSpPr txBox="1"/>
          <p:nvPr/>
        </p:nvSpPr>
        <p:spPr>
          <a:xfrm>
            <a:off x="787400" y="4470400"/>
            <a:ext cx="30903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1E3A8A"/>
                </a:solidFill>
                <a:latin typeface="Cambria" panose="02040503050406030204" pitchFamily="18" charset="0"/>
              </a:rPr>
              <a:t>Apply (UC-1)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CD5C9-690E-0445-9267-22325637A246}"/>
              </a:ext>
            </a:extLst>
          </p:cNvPr>
          <p:cNvSpPr txBox="1"/>
          <p:nvPr/>
        </p:nvSpPr>
        <p:spPr>
          <a:xfrm>
            <a:off x="787400" y="5029200"/>
            <a:ext cx="30649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B2430"/>
                </a:solidFill>
                <a:latin typeface="Calibri" panose="020F0502020204030204" pitchFamily="34" charset="0"/>
              </a:rPr>
              <a:t>published, before deadline, not placed, eligible, no duplicate, own active resume; tracking id USPS-26-0001; saved in one transaction</a:t>
            </a:r>
            <a:endParaRPr lang="en-IN" sz="12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37FB76-60B0-8EA8-68EA-4ECF2900E2B8}"/>
              </a:ext>
            </a:extLst>
          </p:cNvPr>
          <p:cNvSpPr/>
          <p:nvPr/>
        </p:nvSpPr>
        <p:spPr>
          <a:xfrm>
            <a:off x="4334933" y="4241800"/>
            <a:ext cx="3522134" cy="21082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60DB71-62FE-BDA2-0AC0-CA2C5667882E}"/>
              </a:ext>
            </a:extLst>
          </p:cNvPr>
          <p:cNvSpPr txBox="1"/>
          <p:nvPr/>
        </p:nvSpPr>
        <p:spPr>
          <a:xfrm>
            <a:off x="4563533" y="4470400"/>
            <a:ext cx="30903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1E3A8A"/>
                </a:solidFill>
                <a:latin typeface="Cambria" panose="02040503050406030204" pitchFamily="18" charset="0"/>
              </a:rPr>
              <a:t>Statechart (Expt-5)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6C6275-A166-2AE2-E1E3-9A51BC955368}"/>
              </a:ext>
            </a:extLst>
          </p:cNvPr>
          <p:cNvSpPr txBox="1"/>
          <p:nvPr/>
        </p:nvSpPr>
        <p:spPr>
          <a:xfrm>
            <a:off x="4563533" y="5029200"/>
            <a:ext cx="30649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B2430"/>
                </a:solidFill>
                <a:latin typeface="Calibri" panose="020F0502020204030204" pitchFamily="34" charset="0"/>
              </a:rPr>
              <a:t>every step goes through next_state(); offers only after selection (BR-08); recruiters touch only their own applicants (BR-07)</a:t>
            </a:r>
            <a:endParaRPr lang="en-IN" sz="12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6D06D1-C918-5C85-2039-CF563727EA15}"/>
              </a:ext>
            </a:extLst>
          </p:cNvPr>
          <p:cNvSpPr/>
          <p:nvPr/>
        </p:nvSpPr>
        <p:spPr>
          <a:xfrm>
            <a:off x="8111067" y="4241800"/>
            <a:ext cx="3522133" cy="21082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9676A9-D816-F7C3-473E-B9F3648E2C9E}"/>
              </a:ext>
            </a:extLst>
          </p:cNvPr>
          <p:cNvSpPr txBox="1"/>
          <p:nvPr/>
        </p:nvSpPr>
        <p:spPr>
          <a:xfrm>
            <a:off x="8339667" y="4470400"/>
            <a:ext cx="30903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1E3A8A"/>
                </a:solidFill>
                <a:latin typeface="Cambria" panose="02040503050406030204" pitchFamily="18" charset="0"/>
              </a:rPr>
              <a:t>Tracking (FR-17)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D2546-B1E3-5548-A6AE-4658E2530B79}"/>
              </a:ext>
            </a:extLst>
          </p:cNvPr>
          <p:cNvSpPr txBox="1"/>
          <p:nvPr/>
        </p:nvSpPr>
        <p:spPr>
          <a:xfrm>
            <a:off x="8339667" y="5029200"/>
            <a:ext cx="30649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B2430"/>
                </a:solidFill>
                <a:latin typeface="Calibri" panose="020F0502020204030204" pitchFamily="34" charset="0"/>
              </a:rPr>
              <a:t>timeline with every step and actor, notifications, withdraw before the deadline, accept marks the student placed (BR-01)</a:t>
            </a:r>
            <a:endParaRPr lang="en-IN" sz="12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ABB6DA-D7C9-A163-26C6-F4D69CAC36D7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00B4F-5AAB-5F42-17A6-EA72DA889A56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946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35239-BFB3-B501-0A79-0BCDDF0A49B1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E3A8A"/>
                </a:solidFill>
                <a:latin typeface="Cambria" panose="02040503050406030204" pitchFamily="18" charset="0"/>
              </a:rPr>
              <a:t>Three roles, one live page</a:t>
            </a:r>
            <a:endParaRPr lang="en-IN" sz="30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50FB2-1E68-24A7-6A71-1ADE6C406F3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383506"/>
            <a:ext cx="5384800" cy="3786188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486FF-2FDA-FB93-6F3C-9604665E4D00}"/>
              </a:ext>
            </a:extLst>
          </p:cNvPr>
          <p:cNvSpPr txBox="1"/>
          <p:nvPr/>
        </p:nvSpPr>
        <p:spPr>
          <a:xfrm>
            <a:off x="558800" y="55372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Officer: a job posted by a recruiter elsewhere appears without reload, with a pop-up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53B7BD-A6E5-CB2A-BD6A-023F6700BA7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83506"/>
            <a:ext cx="5384800" cy="3786188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523C86-5CC6-335C-49E1-3578C0F4EA52}"/>
              </a:ext>
            </a:extLst>
          </p:cNvPr>
          <p:cNvSpPr txBox="1"/>
          <p:nvPr/>
        </p:nvSpPr>
        <p:spPr>
          <a:xfrm>
            <a:off x="6248400" y="55372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Student: status timeline after accepting the offer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7D6EC-29FA-C3F4-7D38-5CDF6CD826FA}"/>
              </a:ext>
            </a:extLst>
          </p:cNvPr>
          <p:cNvSpPr txBox="1"/>
          <p:nvPr/>
        </p:nvSpPr>
        <p:spPr>
          <a:xfrm>
            <a:off x="558800" y="61214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i="1">
                <a:solidFill>
                  <a:srgbClr val="5D6676"/>
                </a:solidFill>
                <a:latin typeface="Calibri" panose="020F0502020204030204" pitchFamily="34" charset="0"/>
              </a:rPr>
              <a:t>Every open page asks /api/version every 2 seconds and redraws itself when anyone changes data</a:t>
            </a:r>
            <a:endParaRPr lang="en-IN" sz="1200" i="1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4536BF-D7CA-45EE-EBAF-528048C75AD2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AE28D-7565-723D-3D20-692A76CA160C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008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02FBFA9-E531-7D57-086C-2E9E7981D1C0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000" b="1">
                <a:solidFill>
                  <a:srgbClr val="1E3A8A"/>
                </a:solidFill>
                <a:latin typeface="Cambria" panose="02040503050406030204" pitchFamily="18" charset="0"/>
              </a:rPr>
              <a:t>Managed in Jira · space USPS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CAAF3E-EA52-DBFC-B57F-83C4538BADE3}"/>
              </a:ext>
            </a:extLst>
          </p:cNvPr>
          <p:cNvSpPr/>
          <p:nvPr/>
        </p:nvSpPr>
        <p:spPr>
          <a:xfrm>
            <a:off x="558800" y="12700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F6F28-4627-FD80-1AAD-35DC2A7B25FB}"/>
              </a:ext>
            </a:extLst>
          </p:cNvPr>
          <p:cNvSpPr txBox="1"/>
          <p:nvPr/>
        </p:nvSpPr>
        <p:spPr>
          <a:xfrm>
            <a:off x="558800" y="1397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E3A8A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60F84-3985-A6C5-D853-9D7254DE4231}"/>
              </a:ext>
            </a:extLst>
          </p:cNvPr>
          <p:cNvSpPr txBox="1"/>
          <p:nvPr/>
        </p:nvSpPr>
        <p:spPr>
          <a:xfrm>
            <a:off x="660400" y="21518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epics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C1BE09-BAD4-1DF1-8D9E-46358828973B}"/>
              </a:ext>
            </a:extLst>
          </p:cNvPr>
          <p:cNvSpPr/>
          <p:nvPr/>
        </p:nvSpPr>
        <p:spPr>
          <a:xfrm>
            <a:off x="2641600" y="12700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69F80-DBE7-E20C-702D-25E838552EA8}"/>
              </a:ext>
            </a:extLst>
          </p:cNvPr>
          <p:cNvSpPr txBox="1"/>
          <p:nvPr/>
        </p:nvSpPr>
        <p:spPr>
          <a:xfrm>
            <a:off x="2641600" y="1397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E3A8A"/>
                </a:solidFill>
                <a:latin typeface="Cambria" panose="02040503050406030204" pitchFamily="18" charset="0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109F0E-A75B-FD44-2037-E073C2061341}"/>
              </a:ext>
            </a:extLst>
          </p:cNvPr>
          <p:cNvSpPr txBox="1"/>
          <p:nvPr/>
        </p:nvSpPr>
        <p:spPr>
          <a:xfrm>
            <a:off x="2743200" y="21518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user stories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B5A7D4-9B7F-19B9-3F04-2EA952FC0EEA}"/>
              </a:ext>
            </a:extLst>
          </p:cNvPr>
          <p:cNvSpPr/>
          <p:nvPr/>
        </p:nvSpPr>
        <p:spPr>
          <a:xfrm>
            <a:off x="4724400" y="12700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B9A0C-9241-B76C-A00D-9769647BEB6E}"/>
              </a:ext>
            </a:extLst>
          </p:cNvPr>
          <p:cNvSpPr txBox="1"/>
          <p:nvPr/>
        </p:nvSpPr>
        <p:spPr>
          <a:xfrm>
            <a:off x="4724400" y="1397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E3A8A"/>
                </a:solidFill>
                <a:latin typeface="Cambria" panose="02040503050406030204" pitchFamily="18" charset="0"/>
              </a:rPr>
              <a:t>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1F43E-1B79-EDE8-902F-92379C8E347B}"/>
              </a:ext>
            </a:extLst>
          </p:cNvPr>
          <p:cNvSpPr txBox="1"/>
          <p:nvPr/>
        </p:nvSpPr>
        <p:spPr>
          <a:xfrm>
            <a:off x="4826000" y="21518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tasks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5B4937-1E6D-6BC8-1865-1B4BA5C52DE7}"/>
              </a:ext>
            </a:extLst>
          </p:cNvPr>
          <p:cNvSpPr/>
          <p:nvPr/>
        </p:nvSpPr>
        <p:spPr>
          <a:xfrm>
            <a:off x="558800" y="28956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68B10-4BC4-A64A-037F-3D9B4DC44E8D}"/>
              </a:ext>
            </a:extLst>
          </p:cNvPr>
          <p:cNvSpPr txBox="1"/>
          <p:nvPr/>
        </p:nvSpPr>
        <p:spPr>
          <a:xfrm>
            <a:off x="558800" y="3022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E3A8A"/>
                </a:solidFill>
                <a:latin typeface="Cambria" panose="02040503050406030204" pitchFamily="18" charset="0"/>
              </a:rPr>
              <a:t>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119359-0B86-5864-4E0A-790E14157571}"/>
              </a:ext>
            </a:extLst>
          </p:cNvPr>
          <p:cNvSpPr txBox="1"/>
          <p:nvPr/>
        </p:nvSpPr>
        <p:spPr>
          <a:xfrm>
            <a:off x="660400" y="37774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sub-tasks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25255E-11A3-8605-3072-5DA591262F43}"/>
              </a:ext>
            </a:extLst>
          </p:cNvPr>
          <p:cNvSpPr/>
          <p:nvPr/>
        </p:nvSpPr>
        <p:spPr>
          <a:xfrm>
            <a:off x="2641600" y="28956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8A19FE-91C3-F9DF-7492-2252D779B568}"/>
              </a:ext>
            </a:extLst>
          </p:cNvPr>
          <p:cNvSpPr txBox="1"/>
          <p:nvPr/>
        </p:nvSpPr>
        <p:spPr>
          <a:xfrm>
            <a:off x="2641600" y="3022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F59E0B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08790A-01B4-3843-3F24-473A098BCAC4}"/>
              </a:ext>
            </a:extLst>
          </p:cNvPr>
          <p:cNvSpPr txBox="1"/>
          <p:nvPr/>
        </p:nvSpPr>
        <p:spPr>
          <a:xfrm>
            <a:off x="2743200" y="37774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bugs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622AAF-7EA1-920D-9BCE-02FDAA36B1DE}"/>
              </a:ext>
            </a:extLst>
          </p:cNvPr>
          <p:cNvSpPr/>
          <p:nvPr/>
        </p:nvSpPr>
        <p:spPr>
          <a:xfrm>
            <a:off x="4724400" y="28956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B144A1-FF08-6811-10E9-0C0871E4B912}"/>
              </a:ext>
            </a:extLst>
          </p:cNvPr>
          <p:cNvSpPr txBox="1"/>
          <p:nvPr/>
        </p:nvSpPr>
        <p:spPr>
          <a:xfrm>
            <a:off x="4724400" y="3022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E3A8A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407B26-33DF-BCA0-3AB3-D813F8BC1442}"/>
              </a:ext>
            </a:extLst>
          </p:cNvPr>
          <p:cNvSpPr txBox="1"/>
          <p:nvPr/>
        </p:nvSpPr>
        <p:spPr>
          <a:xfrm>
            <a:off x="4826000" y="37774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sprints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488FF0-018E-63D8-7188-4131E344F844}"/>
              </a:ext>
            </a:extLst>
          </p:cNvPr>
          <p:cNvSpPr txBox="1"/>
          <p:nvPr/>
        </p:nvSpPr>
        <p:spPr>
          <a:xfrm>
            <a:off x="558800" y="4546600"/>
            <a:ext cx="607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Epic -&gt; Story / Task / Bug -&gt; Sub-task, with story points and priorities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Workflow: To Do -&gt; In Progress -&gt; In Review -&gt; Done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Two members: my institute ID (admin) and my second ID, invited, with 14 work items assigned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Each bug has steps, severity, priority and a fix + retest comment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FA09161-E3A2-9220-E99E-FD800161366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2011951"/>
            <a:ext cx="4826000" cy="3392898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302CD9D-FE76-ACE6-9C7D-525B3A1994C2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7F5810-E0B1-DD07-A4EB-ACA5B3A9F7C9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2435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8612CEE-25CC-6553-D4A9-D6D981C76DEB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E3A8A"/>
                </a:solidFill>
                <a:latin typeface="Cambria" panose="02040503050406030204" pitchFamily="18" charset="0"/>
              </a:rPr>
              <a:t>Three sprints, tracked to Done</a:t>
            </a:r>
            <a:endParaRPr lang="en-IN" sz="30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212A3F-9B39-7F67-4ABD-B3ED6DDE7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0394"/>
              </p:ext>
            </p:extLst>
          </p:nvPr>
        </p:nvGraphicFramePr>
        <p:xfrm>
          <a:off x="558800" y="1219200"/>
          <a:ext cx="6604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027923538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368553543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8419468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9538403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4306272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Sprint</a:t>
                      </a:r>
                    </a:p>
                  </a:txBody>
                  <a:tcPr marL="76200" marR="762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Goal</a:t>
                      </a:r>
                    </a:p>
                  </a:txBody>
                  <a:tcPr marL="76200" marR="762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Items</a:t>
                      </a:r>
                    </a:p>
                  </a:txBody>
                  <a:tcPr marL="76200" marR="762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Points</a:t>
                      </a:r>
                    </a:p>
                  </a:txBody>
                  <a:tcPr marL="76200" marR="762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</a:txBody>
                  <a:tcPr marL="76200" marR="76200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901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USPS Sprint 1
26-10 10:30-10:50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Requirements and Module 1: job posting, approval, search and eligibility check</a:t>
                      </a:r>
                      <a:endParaRPr lang="en-IN" sz="1250" b="0">
                        <a:solidFill>
                          <a:srgbClr val="1B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66534"/>
                          </a:solidFill>
                          <a:latin typeface="Calibri" panose="020F0502020204030204" pitchFamily="34" charset="0"/>
                        </a:rPr>
                        <a:t>Completed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36589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USPS Sprint 2
26-10 10:50-11:05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Module 2: application, statechart workflow, tracking, notifications and live updates</a:t>
                      </a:r>
                      <a:endParaRPr lang="en-IN" sz="1250" b="0">
                        <a:solidFill>
                          <a:srgbClr val="1B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66534"/>
                          </a:solidFill>
                          <a:latin typeface="Calibri" panose="020F0502020204030204" pitchFamily="34" charset="0"/>
                        </a:rPr>
                        <a:t>Completed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0533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sz="1250" b="1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USPS Sprint 3
26-10 - 02-11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Testing (155 cases), bug fixing, retesting, report and presentation</a:t>
                      </a:r>
                      <a:endParaRPr lang="en-IN" sz="1250" b="0">
                        <a:solidFill>
                          <a:srgbClr val="1B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50" b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</a:rPr>
                        <a:t>Active</a:t>
                      </a:r>
                    </a:p>
                  </a:txBody>
                  <a:tcPr marL="76200" marR="76200"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7054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C2117D-DD9C-AA44-65FA-0D6BB7811B97}"/>
              </a:ext>
            </a:extLst>
          </p:cNvPr>
          <p:cNvSpPr txBox="1"/>
          <p:nvPr/>
        </p:nvSpPr>
        <p:spPr>
          <a:xfrm>
            <a:off x="558800" y="4191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sz="1350">
                <a:solidFill>
                  <a:srgbClr val="5D6676"/>
                </a:solidFill>
                <a:latin typeface="Calibri" panose="020F0502020204030204" pitchFamily="34" charset="0"/>
              </a:rPr>
              <a:t>Sprint 3 holds the testing tasks and the four bugs; the report and presentation task stays In Progress until submission.</a:t>
            </a:r>
          </a:p>
          <a:p>
            <a:pPr>
              <a:spcAft>
                <a:spcPts val="800"/>
              </a:spcAft>
            </a:pPr>
            <a:r>
              <a:rPr lang="en-US" sz="1350">
                <a:solidFill>
                  <a:srgbClr val="5D6676"/>
                </a:solidFill>
                <a:latin typeface="Calibri" panose="020F0502020204030204" pitchFamily="34" charset="0"/>
              </a:rPr>
              <a:t>47 of 49 work items Done on 26-10-2026.</a:t>
            </a:r>
            <a:endParaRPr lang="en-IN" sz="135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01C58-0B7E-821D-FD2D-888BC3ECA98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198744"/>
            <a:ext cx="4318000" cy="3019312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278A28-1CAF-5805-3893-57F5E90878C9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0D60B-7251-ECF4-B50F-EB0BFF6C3077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9470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D6C9E86-F6C0-DEC1-2E31-C5AC24DB4DCB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000" b="1">
                <a:solidFill>
                  <a:srgbClr val="1E3A8A"/>
                </a:solidFill>
                <a:latin typeface="Cambria" panose="02040503050406030204" pitchFamily="18" charset="0"/>
              </a:rPr>
              <a:t>155 automated test cases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E5B580-F173-ABA6-76D5-36FC6D054A31}"/>
              </a:ext>
            </a:extLst>
          </p:cNvPr>
          <p:cNvSpPr/>
          <p:nvPr/>
        </p:nvSpPr>
        <p:spPr>
          <a:xfrm>
            <a:off x="558800" y="11684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96EFC-4336-3D0B-7504-30AA1469703A}"/>
              </a:ext>
            </a:extLst>
          </p:cNvPr>
          <p:cNvSpPr txBox="1"/>
          <p:nvPr/>
        </p:nvSpPr>
        <p:spPr>
          <a:xfrm>
            <a:off x="558800" y="12954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E3A8A"/>
                </a:solidFill>
                <a:latin typeface="Cambria" panose="02040503050406030204" pitchFamily="18" charset="0"/>
              </a:rPr>
              <a:t>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34FD8-0B13-184C-D2BA-AC57692C3E53}"/>
              </a:ext>
            </a:extLst>
          </p:cNvPr>
          <p:cNvSpPr txBox="1"/>
          <p:nvPr/>
        </p:nvSpPr>
        <p:spPr>
          <a:xfrm>
            <a:off x="660400" y="21762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Module 1
unit + API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2D843A-3972-3E28-3DE5-0CE5BB24AC94}"/>
              </a:ext>
            </a:extLst>
          </p:cNvPr>
          <p:cNvSpPr/>
          <p:nvPr/>
        </p:nvSpPr>
        <p:spPr>
          <a:xfrm>
            <a:off x="3378200" y="11684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02CAF-44B2-91DD-E8D7-5A4DB433817C}"/>
              </a:ext>
            </a:extLst>
          </p:cNvPr>
          <p:cNvSpPr txBox="1"/>
          <p:nvPr/>
        </p:nvSpPr>
        <p:spPr>
          <a:xfrm>
            <a:off x="3378200" y="12954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E3A8A"/>
                </a:solidFill>
                <a:latin typeface="Cambria" panose="02040503050406030204" pitchFamily="18" charset="0"/>
              </a:rPr>
              <a:t>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952CE-B82B-B963-A051-2F5208DAD8C9}"/>
              </a:ext>
            </a:extLst>
          </p:cNvPr>
          <p:cNvSpPr txBox="1"/>
          <p:nvPr/>
        </p:nvSpPr>
        <p:spPr>
          <a:xfrm>
            <a:off x="3479800" y="21762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Module 2
unit + API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96E034-35A1-CEB7-F4AC-1CE435C5C3D5}"/>
              </a:ext>
            </a:extLst>
          </p:cNvPr>
          <p:cNvSpPr/>
          <p:nvPr/>
        </p:nvSpPr>
        <p:spPr>
          <a:xfrm>
            <a:off x="6197600" y="11684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E686C-5016-F44A-9B9F-B1A33F61FE71}"/>
              </a:ext>
            </a:extLst>
          </p:cNvPr>
          <p:cNvSpPr txBox="1"/>
          <p:nvPr/>
        </p:nvSpPr>
        <p:spPr>
          <a:xfrm>
            <a:off x="6197600" y="12954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E3A8A"/>
                </a:solidFill>
                <a:latin typeface="Cambria" panose="02040503050406030204" pitchFamily="18" charset="0"/>
              </a:rPr>
              <a:t>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0B7F92-5B84-AED5-9637-2872DDAC69F3}"/>
              </a:ext>
            </a:extLst>
          </p:cNvPr>
          <p:cNvSpPr txBox="1"/>
          <p:nvPr/>
        </p:nvSpPr>
        <p:spPr>
          <a:xfrm>
            <a:off x="6299200" y="21762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Integration
end to end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7C7101-8697-5FF4-6D82-A072566171EB}"/>
              </a:ext>
            </a:extLst>
          </p:cNvPr>
          <p:cNvSpPr/>
          <p:nvPr/>
        </p:nvSpPr>
        <p:spPr>
          <a:xfrm>
            <a:off x="9017000" y="11684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A73493-23CB-149D-FF6A-B7624ED09DAE}"/>
              </a:ext>
            </a:extLst>
          </p:cNvPr>
          <p:cNvSpPr txBox="1"/>
          <p:nvPr/>
        </p:nvSpPr>
        <p:spPr>
          <a:xfrm>
            <a:off x="9017000" y="12954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E3A8A"/>
                </a:solidFill>
                <a:latin typeface="Cambria" panose="02040503050406030204" pitchFamily="18" charset="0"/>
              </a:rPr>
              <a:t>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A5E1BE-19EB-ECDD-48BE-851499B06699}"/>
              </a:ext>
            </a:extLst>
          </p:cNvPr>
          <p:cNvSpPr txBox="1"/>
          <p:nvPr/>
        </p:nvSpPr>
        <p:spPr>
          <a:xfrm>
            <a:off x="9118600" y="21762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UI tests
in Edge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8F25AE-FB0C-6F19-FBAF-9B254A1870FF}"/>
              </a:ext>
            </a:extLst>
          </p:cNvPr>
          <p:cNvSpPr/>
          <p:nvPr/>
        </p:nvSpPr>
        <p:spPr>
          <a:xfrm>
            <a:off x="558800" y="3098800"/>
            <a:ext cx="355600" cy="3556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35232-A012-BAD6-D28B-EE4F8307478A}"/>
              </a:ext>
            </a:extLst>
          </p:cNvPr>
          <p:cNvSpPr txBox="1"/>
          <p:nvPr/>
        </p:nvSpPr>
        <p:spPr>
          <a:xfrm>
            <a:off x="1066800" y="3124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Functional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29527E-2F3D-4BE4-3B45-AF4EC9957C22}"/>
              </a:ext>
            </a:extLst>
          </p:cNvPr>
          <p:cNvSpPr txBox="1"/>
          <p:nvPr/>
        </p:nvSpPr>
        <p:spPr>
          <a:xfrm>
            <a:off x="4241800" y="3149600"/>
            <a:ext cx="739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every requirement checked through the API and the page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258EFFD-C6B3-AF6D-F5F8-8A30A6BFC0A5}"/>
              </a:ext>
            </a:extLst>
          </p:cNvPr>
          <p:cNvSpPr/>
          <p:nvPr/>
        </p:nvSpPr>
        <p:spPr>
          <a:xfrm>
            <a:off x="558800" y="3683000"/>
            <a:ext cx="355600" cy="3556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DB6BE5-1E15-3F5C-21C9-D72C20B7AB31}"/>
              </a:ext>
            </a:extLst>
          </p:cNvPr>
          <p:cNvSpPr txBox="1"/>
          <p:nvPr/>
        </p:nvSpPr>
        <p:spPr>
          <a:xfrm>
            <a:off x="1066800" y="37084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Equivalence partitioning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16C4E4-3782-B614-774A-BBF06A988237}"/>
              </a:ext>
            </a:extLst>
          </p:cNvPr>
          <p:cNvSpPr txBox="1"/>
          <p:nvPr/>
        </p:nvSpPr>
        <p:spPr>
          <a:xfrm>
            <a:off x="4241800" y="3733800"/>
            <a:ext cx="739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valid / invalid classes: words for numbers, unknown branch, wrong resume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E380C1-FED2-E7A9-CE53-35AD2C03DB10}"/>
              </a:ext>
            </a:extLst>
          </p:cNvPr>
          <p:cNvSpPr/>
          <p:nvPr/>
        </p:nvSpPr>
        <p:spPr>
          <a:xfrm>
            <a:off x="558800" y="4267200"/>
            <a:ext cx="355600" cy="3556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9847E0-C913-BFED-1291-33D604F53769}"/>
              </a:ext>
            </a:extLst>
          </p:cNvPr>
          <p:cNvSpPr txBox="1"/>
          <p:nvPr/>
        </p:nvSpPr>
        <p:spPr>
          <a:xfrm>
            <a:off x="1066800" y="4292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Boundary value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31C8ED-C8C0-113D-9302-B82EF4546472}"/>
              </a:ext>
            </a:extLst>
          </p:cNvPr>
          <p:cNvSpPr txBox="1"/>
          <p:nvPr/>
        </p:nvSpPr>
        <p:spPr>
          <a:xfrm>
            <a:off x="4241800" y="4318000"/>
            <a:ext cx="739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CGPA 6.99 / 7.00, cover note 500 / 501, apply 1 min before / at deadline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F9A50ED-A43E-2E09-7136-1F94B3325711}"/>
              </a:ext>
            </a:extLst>
          </p:cNvPr>
          <p:cNvSpPr/>
          <p:nvPr/>
        </p:nvSpPr>
        <p:spPr>
          <a:xfrm>
            <a:off x="558800" y="4851400"/>
            <a:ext cx="355600" cy="3556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3B5922-ADBD-9AB3-89D8-60FA465D6D17}"/>
              </a:ext>
            </a:extLst>
          </p:cNvPr>
          <p:cNvSpPr txBox="1"/>
          <p:nvPr/>
        </p:nvSpPr>
        <p:spPr>
          <a:xfrm>
            <a:off x="1066800" y="4876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Validation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8FEB7F-CAF6-CC14-4705-3DDBE9138BC4}"/>
              </a:ext>
            </a:extLst>
          </p:cNvPr>
          <p:cNvSpPr txBox="1"/>
          <p:nvPr/>
        </p:nvSpPr>
        <p:spPr>
          <a:xfrm>
            <a:off x="4241800" y="4902200"/>
            <a:ext cx="739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every API and form error message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96A7D71-0802-D0FB-D1AF-9B2B1F328C44}"/>
              </a:ext>
            </a:extLst>
          </p:cNvPr>
          <p:cNvSpPr/>
          <p:nvPr/>
        </p:nvSpPr>
        <p:spPr>
          <a:xfrm>
            <a:off x="558800" y="5435600"/>
            <a:ext cx="355600" cy="3556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3D29F2-ABC4-7521-71CC-8B568ECC8AFB}"/>
              </a:ext>
            </a:extLst>
          </p:cNvPr>
          <p:cNvSpPr txBox="1"/>
          <p:nvPr/>
        </p:nvSpPr>
        <p:spPr>
          <a:xfrm>
            <a:off x="1066800" y="5461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Unit and integration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BAE00B-2585-3ACE-0156-4A89917F5EE7}"/>
              </a:ext>
            </a:extLst>
          </p:cNvPr>
          <p:cNvSpPr txBox="1"/>
          <p:nvPr/>
        </p:nvSpPr>
        <p:spPr>
          <a:xfrm>
            <a:off x="4241800" y="5486400"/>
            <a:ext cx="739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rules alone, then both modules + DB: rollback, concurrency, restart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F64B3-1D43-C852-C6DA-452D08313C7B}"/>
              </a:ext>
            </a:extLst>
          </p:cNvPr>
          <p:cNvSpPr txBox="1"/>
          <p:nvPr/>
        </p:nvSpPr>
        <p:spPr>
          <a:xfrm>
            <a:off x="558800" y="61214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i="1">
                <a:solidFill>
                  <a:srgbClr val="5D6676"/>
                </a:solidFill>
                <a:latin typeface="Calibri" panose="020F0502020204030204" pitchFamily="34" charset="0"/>
              </a:rPr>
              <a:t>Format: Test Case ID · Module · Test Scenario · Test Data · Expected Result · Actual Result · Status</a:t>
            </a:r>
            <a:endParaRPr lang="en-IN" sz="1200" i="1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590BFA-3CC5-0601-0199-7697B64A5DEA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E9AC7-71A6-34E5-64B4-8AE012D79FB9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41219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F309414-D777-D53F-D35C-60D6740B041B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E3A8A"/>
                </a:solidFill>
                <a:latin typeface="Cambria" panose="02040503050406030204" pitchFamily="18" charset="0"/>
              </a:rPr>
              <a:t>Testing found 4 real bugs</a:t>
            </a:r>
            <a:endParaRPr lang="en-IN" sz="30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72AA8F-26AE-905E-A2E0-5FA9440FF196}"/>
              </a:ext>
            </a:extLst>
          </p:cNvPr>
          <p:cNvSpPr/>
          <p:nvPr/>
        </p:nvSpPr>
        <p:spPr>
          <a:xfrm>
            <a:off x="558800" y="1219200"/>
            <a:ext cx="2616200" cy="14224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1F0FE-AEA8-0E79-0375-748C3639D6F1}"/>
              </a:ext>
            </a:extLst>
          </p:cNvPr>
          <p:cNvSpPr txBox="1"/>
          <p:nvPr/>
        </p:nvSpPr>
        <p:spPr>
          <a:xfrm>
            <a:off x="558800" y="13462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800" b="1">
                <a:solidFill>
                  <a:srgbClr val="A31F1F"/>
                </a:solidFill>
                <a:latin typeface="Cambria" panose="02040503050406030204" pitchFamily="18" charset="0"/>
              </a:rPr>
              <a:t>136 / 151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4517F-9126-6CEC-02BA-42360E1372DB}"/>
              </a:ext>
            </a:extLst>
          </p:cNvPr>
          <p:cNvSpPr txBox="1"/>
          <p:nvPr/>
        </p:nvSpPr>
        <p:spPr>
          <a:xfrm>
            <a:off x="660400" y="2101088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Run 1: passed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801E8D-FABC-497D-11C6-69AA4D7C8009}"/>
              </a:ext>
            </a:extLst>
          </p:cNvPr>
          <p:cNvSpPr/>
          <p:nvPr/>
        </p:nvSpPr>
        <p:spPr>
          <a:xfrm>
            <a:off x="3378200" y="1219200"/>
            <a:ext cx="2616200" cy="1422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A77F80-A1DC-5C21-13B3-CF98CE6E967E}"/>
              </a:ext>
            </a:extLst>
          </p:cNvPr>
          <p:cNvSpPr txBox="1"/>
          <p:nvPr/>
        </p:nvSpPr>
        <p:spPr>
          <a:xfrm>
            <a:off x="3378200" y="13462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800" b="1">
                <a:solidFill>
                  <a:srgbClr val="166534"/>
                </a:solidFill>
                <a:latin typeface="Cambria" panose="02040503050406030204" pitchFamily="18" charset="0"/>
              </a:rPr>
              <a:t>151 / 151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0FF47-1220-FC0F-621B-09FBD0E90BB3}"/>
              </a:ext>
            </a:extLst>
          </p:cNvPr>
          <p:cNvSpPr txBox="1"/>
          <p:nvPr/>
        </p:nvSpPr>
        <p:spPr>
          <a:xfrm>
            <a:off x="3479800" y="2101088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Run 2 retest: passed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4C9DBD-291F-70D9-86BF-C571FC4D52C9}"/>
              </a:ext>
            </a:extLst>
          </p:cNvPr>
          <p:cNvSpPr/>
          <p:nvPr/>
        </p:nvSpPr>
        <p:spPr>
          <a:xfrm>
            <a:off x="558800" y="2844800"/>
            <a:ext cx="2616200" cy="14224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4AC93-94C6-C4EB-30EA-DF2B8321D2CB}"/>
              </a:ext>
            </a:extLst>
          </p:cNvPr>
          <p:cNvSpPr txBox="1"/>
          <p:nvPr/>
        </p:nvSpPr>
        <p:spPr>
          <a:xfrm>
            <a:off x="558800" y="29718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800" b="1">
                <a:solidFill>
                  <a:srgbClr val="A31F1F"/>
                </a:solidFill>
                <a:latin typeface="Cambria" panose="02040503050406030204" pitchFamily="18" charset="0"/>
              </a:rPr>
              <a:t>152 / 155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7A8AC-AB45-91F9-9C5D-71B43B04CC03}"/>
              </a:ext>
            </a:extLst>
          </p:cNvPr>
          <p:cNvSpPr txBox="1"/>
          <p:nvPr/>
        </p:nvSpPr>
        <p:spPr>
          <a:xfrm>
            <a:off x="660400" y="3726688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Run 3 +4 cases: passed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C81872-967A-1407-440E-C3F52040F4A7}"/>
              </a:ext>
            </a:extLst>
          </p:cNvPr>
          <p:cNvSpPr/>
          <p:nvPr/>
        </p:nvSpPr>
        <p:spPr>
          <a:xfrm>
            <a:off x="3378200" y="2844800"/>
            <a:ext cx="2616200" cy="14224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1AD4F6-693B-BFC9-A4D1-E784EAE42FAC}"/>
              </a:ext>
            </a:extLst>
          </p:cNvPr>
          <p:cNvSpPr txBox="1"/>
          <p:nvPr/>
        </p:nvSpPr>
        <p:spPr>
          <a:xfrm>
            <a:off x="3378200" y="29718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800" b="1">
                <a:solidFill>
                  <a:srgbClr val="166534"/>
                </a:solidFill>
                <a:latin typeface="Cambria" panose="02040503050406030204" pitchFamily="18" charset="0"/>
              </a:rPr>
              <a:t>155 / 155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FCB9A-2531-7215-C0DA-CD9F2CD9D009}"/>
              </a:ext>
            </a:extLst>
          </p:cNvPr>
          <p:cNvSpPr txBox="1"/>
          <p:nvPr/>
        </p:nvSpPr>
        <p:spPr>
          <a:xfrm>
            <a:off x="3479800" y="3726688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Run 4 retest: passed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B56E9C-9751-CB5C-FA81-560FEDF1663B}"/>
              </a:ext>
            </a:extLst>
          </p:cNvPr>
          <p:cNvSpPr txBox="1"/>
          <p:nvPr/>
        </p:nvSpPr>
        <p:spPr>
          <a:xfrm>
            <a:off x="558800" y="45974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Run 1: 15 UI failures, one root cause (BUG-01)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Exploratory testing after run 2 found BUG-02 to BUG-04; new cases written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Every bug logged in Jira, fixed, retested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ED69F7-CE76-37DC-26CE-0B8BBF06B31F}"/>
              </a:ext>
            </a:extLst>
          </p:cNvPr>
          <p:cNvSpPr/>
          <p:nvPr/>
        </p:nvSpPr>
        <p:spPr>
          <a:xfrm>
            <a:off x="6527800" y="1219200"/>
            <a:ext cx="5105400" cy="1092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928F35-ACD5-E2A8-020A-CEC3A77CE819}"/>
              </a:ext>
            </a:extLst>
          </p:cNvPr>
          <p:cNvSpPr txBox="1"/>
          <p:nvPr/>
        </p:nvSpPr>
        <p:spPr>
          <a:xfrm>
            <a:off x="6731000" y="13462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BUG-01 · USPS-46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4CD60D-E755-CD78-5FFA-26B771D98D79}"/>
              </a:ext>
            </a:extLst>
          </p:cNvPr>
          <p:cNvSpPr txBox="1"/>
          <p:nvPr/>
        </p:nvSpPr>
        <p:spPr>
          <a:xfrm>
            <a:off x="9728200" y="13716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A31F1F"/>
                </a:solidFill>
                <a:latin typeface="Calibri" panose="020F0502020204030204" pitchFamily="34" charset="0"/>
              </a:rPr>
              <a:t>Major / High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F778CA-35F7-1DEE-0994-8DB928185547}"/>
              </a:ext>
            </a:extLst>
          </p:cNvPr>
          <p:cNvSpPr txBox="1"/>
          <p:nvPr/>
        </p:nvSpPr>
        <p:spPr>
          <a:xfrm>
            <a:off x="6731000" y="1778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Active resume not pre-selected; apply refused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5261EF-E536-069B-C833-55E1324BE4C2}"/>
              </a:ext>
            </a:extLst>
          </p:cNvPr>
          <p:cNvSpPr/>
          <p:nvPr/>
        </p:nvSpPr>
        <p:spPr>
          <a:xfrm>
            <a:off x="6527800" y="2463800"/>
            <a:ext cx="5105400" cy="1092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F4EA1-1721-F3DD-C4BD-D04FB4DBE8C5}"/>
              </a:ext>
            </a:extLst>
          </p:cNvPr>
          <p:cNvSpPr txBox="1"/>
          <p:nvPr/>
        </p:nvSpPr>
        <p:spPr>
          <a:xfrm>
            <a:off x="6731000" y="2590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BUG-02 · USPS-47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549FD-DA09-CA53-2ABD-66817142F862}"/>
              </a:ext>
            </a:extLst>
          </p:cNvPr>
          <p:cNvSpPr txBox="1"/>
          <p:nvPr/>
        </p:nvSpPr>
        <p:spPr>
          <a:xfrm>
            <a:off x="9728200" y="26162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A31F1F"/>
                </a:solidFill>
                <a:latin typeface="Calibri" panose="020F0502020204030204" pitchFamily="34" charset="0"/>
              </a:rPr>
              <a:t>Major / 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C8831-E7CA-5ED1-B056-6294560CD895}"/>
              </a:ext>
            </a:extLst>
          </p:cNvPr>
          <p:cNvSpPr txBox="1"/>
          <p:nvPr/>
        </p:nvSpPr>
        <p:spPr>
          <a:xfrm>
            <a:off x="6731000" y="30226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Double approval at once, students notified twice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53BADA-62E0-F93D-55A0-F7D98B8262D7}"/>
              </a:ext>
            </a:extLst>
          </p:cNvPr>
          <p:cNvSpPr/>
          <p:nvPr/>
        </p:nvSpPr>
        <p:spPr>
          <a:xfrm>
            <a:off x="6527800" y="3708400"/>
            <a:ext cx="5105400" cy="1092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AFDA09-DBFE-128F-34CA-ABB82A57D1EA}"/>
              </a:ext>
            </a:extLst>
          </p:cNvPr>
          <p:cNvSpPr txBox="1"/>
          <p:nvPr/>
        </p:nvSpPr>
        <p:spPr>
          <a:xfrm>
            <a:off x="6731000" y="3835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BUG-03 · USPS-48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EA83FF-9D2D-449A-00C3-9EEE0CD036FC}"/>
              </a:ext>
            </a:extLst>
          </p:cNvPr>
          <p:cNvSpPr txBox="1"/>
          <p:nvPr/>
        </p:nvSpPr>
        <p:spPr>
          <a:xfrm>
            <a:off x="9728200" y="38608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A31F1F"/>
                </a:solidFill>
                <a:latin typeface="Calibri" panose="020F0502020204030204" pitchFamily="34" charset="0"/>
              </a:rPr>
              <a:t>Major / High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8D6555-F895-03B4-090C-9BDDD7837AED}"/>
              </a:ext>
            </a:extLst>
          </p:cNvPr>
          <p:cNvSpPr txBox="1"/>
          <p:nvPr/>
        </p:nvSpPr>
        <p:spPr>
          <a:xfrm>
            <a:off x="6731000" y="42672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Same status change applied twice at once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A9A2107-1874-A8E6-C76D-0EF177F77F89}"/>
              </a:ext>
            </a:extLst>
          </p:cNvPr>
          <p:cNvSpPr/>
          <p:nvPr/>
        </p:nvSpPr>
        <p:spPr>
          <a:xfrm>
            <a:off x="6527800" y="4953000"/>
            <a:ext cx="5105400" cy="1092200"/>
          </a:xfrm>
          <a:prstGeom prst="roundRect">
            <a:avLst>
              <a:gd name="adj" fmla="val 12000"/>
            </a:avLst>
          </a:prstGeom>
          <a:solidFill>
            <a:srgbClr val="E3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B888-AD23-958F-D987-39C7FBF2BE61}"/>
              </a:ext>
            </a:extLst>
          </p:cNvPr>
          <p:cNvSpPr txBox="1"/>
          <p:nvPr/>
        </p:nvSpPr>
        <p:spPr>
          <a:xfrm>
            <a:off x="6731000" y="5080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E3A8A"/>
                </a:solidFill>
                <a:latin typeface="Cambria" panose="02040503050406030204" pitchFamily="18" charset="0"/>
              </a:rPr>
              <a:t>BUG-04 · USPS-49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48192F-EAE1-A71D-328C-1063ADBDAD4C}"/>
              </a:ext>
            </a:extLst>
          </p:cNvPr>
          <p:cNvSpPr txBox="1"/>
          <p:nvPr/>
        </p:nvSpPr>
        <p:spPr>
          <a:xfrm>
            <a:off x="9728200" y="5105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5D6676"/>
                </a:solidFill>
                <a:latin typeface="Calibri" panose="020F0502020204030204" pitchFamily="34" charset="0"/>
              </a:rPr>
              <a:t>Minor / Medium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7F4744-452B-1873-9122-9F6389D3D52F}"/>
              </a:ext>
            </a:extLst>
          </p:cNvPr>
          <p:cNvSpPr txBox="1"/>
          <p:nvPr/>
        </p:nvSpPr>
        <p:spPr>
          <a:xfrm>
            <a:off x="6731000" y="55118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1B2430"/>
                </a:solidFill>
                <a:latin typeface="Calibri" panose="020F0502020204030204" pitchFamily="34" charset="0"/>
              </a:rPr>
              <a:t>Posting approved after its deadline</a:t>
            </a:r>
            <a:endParaRPr lang="en-IN" sz="135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F0FB8D-E314-9802-44ED-5F153385C507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C6DF63-0D37-2FAA-2DDE-9E259707C707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31776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587B0D2-178A-F9B3-5F07-0703B91B2404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 b="1">
                <a:solidFill>
                  <a:srgbClr val="1E3A8A"/>
                </a:solidFill>
                <a:latin typeface="Cambria" panose="02040503050406030204" pitchFamily="18" charset="0"/>
              </a:rPr>
              <a:t>Bug fix and retest evidence · BUG-01</a:t>
            </a:r>
            <a:endParaRPr lang="en-IN" sz="30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B7562-8762-BCB8-8A9A-D4A1E1A93A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370806"/>
            <a:ext cx="5384800" cy="3786188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BB681E-D9BC-909B-AB99-C4CD96E4C939}"/>
              </a:ext>
            </a:extLst>
          </p:cNvPr>
          <p:cNvSpPr txBox="1"/>
          <p:nvPr/>
        </p:nvSpPr>
        <p:spPr>
          <a:xfrm>
            <a:off x="558800" y="54864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A31F1F"/>
                </a:solidFill>
                <a:latin typeface="Calibri" panose="020F0502020204030204" pitchFamily="34" charset="0"/>
              </a:rPr>
              <a:t>Before fix: TC_UI_11 FAIL (run 1)</a:t>
            </a:r>
            <a:endParaRPr lang="en-IN" sz="1500" b="1">
              <a:solidFill>
                <a:srgbClr val="A31F1F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1757B-8DC2-8B93-02D1-4435465071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70806"/>
            <a:ext cx="5384800" cy="3786188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498470-0D0C-F6F1-57BC-75E4189E6C35}"/>
              </a:ext>
            </a:extLst>
          </p:cNvPr>
          <p:cNvSpPr txBox="1"/>
          <p:nvPr/>
        </p:nvSpPr>
        <p:spPr>
          <a:xfrm>
            <a:off x="6248400" y="54864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166534"/>
                </a:solidFill>
                <a:latin typeface="Calibri" panose="020F0502020204030204" pitchFamily="34" charset="0"/>
              </a:rPr>
              <a:t>After fix: TC_UI_11 PASS (run 2)</a:t>
            </a:r>
            <a:endParaRPr lang="en-IN" sz="1500" b="1">
              <a:solidFill>
                <a:srgbClr val="16653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43D6B-D996-9D07-AB3A-DA6162657B3E}"/>
              </a:ext>
            </a:extLst>
          </p:cNvPr>
          <p:cNvSpPr txBox="1"/>
          <p:nvPr/>
        </p:nvSpPr>
        <p:spPr>
          <a:xfrm>
            <a:off x="558800" y="59690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D6676"/>
                </a:solidFill>
                <a:latin typeface="Calibri" panose="020F0502020204030204" pitchFamily="34" charset="0"/>
              </a:rPr>
              <a:t>Same demo data and test case, captured from the real page in Microsoft Edge before and after the fix</a:t>
            </a:r>
            <a:endParaRPr lang="en-IN" sz="12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ECC53-CE18-0D03-CB6C-9E143EC4D8D7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285FD-F492-BC22-657A-53D437BC3349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7729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E6AB3C8-B25F-5286-9776-FEA396AA39F1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000" b="1">
                <a:solidFill>
                  <a:srgbClr val="1E3A8A"/>
                </a:solidFill>
                <a:latin typeface="Cambria" panose="02040503050406030204" pitchFamily="18" charset="0"/>
              </a:rPr>
              <a:t>Live demonstration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BD2D25-BA84-9A83-C2D4-4FF50129A6C8}"/>
              </a:ext>
            </a:extLst>
          </p:cNvPr>
          <p:cNvSpPr/>
          <p:nvPr/>
        </p:nvSpPr>
        <p:spPr>
          <a:xfrm>
            <a:off x="558800" y="13208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8A96F-9C3C-3581-8259-D85F7AC590A2}"/>
              </a:ext>
            </a:extLst>
          </p:cNvPr>
          <p:cNvSpPr txBox="1"/>
          <p:nvPr/>
        </p:nvSpPr>
        <p:spPr>
          <a:xfrm>
            <a:off x="1346200" y="12954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E3A8A"/>
                </a:solidFill>
                <a:latin typeface="Cambria" panose="02040503050406030204" pitchFamily="18" charset="0"/>
              </a:rPr>
              <a:t>Start the portal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7AA9C-8CB5-4395-AA5D-333535149013}"/>
              </a:ext>
            </a:extLst>
          </p:cNvPr>
          <p:cNvSpPr txBox="1"/>
          <p:nvPr/>
        </p:nvSpPr>
        <p:spPr>
          <a:xfrm>
            <a:off x="1346200" y="1676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1B2430"/>
                </a:solidFill>
                <a:latin typeface="Courier New" panose="02070309020205020404" pitchFamily="49" charset="0"/>
              </a:rPr>
              <a:t>python run.py  -&gt;  http://127.0.0.1:8091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32ACB9-A57C-8511-1590-19CF6CB5DF96}"/>
              </a:ext>
            </a:extLst>
          </p:cNvPr>
          <p:cNvSpPr/>
          <p:nvPr/>
        </p:nvSpPr>
        <p:spPr>
          <a:xfrm>
            <a:off x="558800" y="25400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98CB9-71E0-F7C1-11D5-2DF0BAF7704B}"/>
              </a:ext>
            </a:extLst>
          </p:cNvPr>
          <p:cNvSpPr txBox="1"/>
          <p:nvPr/>
        </p:nvSpPr>
        <p:spPr>
          <a:xfrm>
            <a:off x="1346200" y="2514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E3A8A"/>
                </a:solidFill>
                <a:latin typeface="Cambria" panose="02040503050406030204" pitchFamily="18" charset="0"/>
              </a:rPr>
              <a:t>Recruiter posts, officer approves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F7B29-B4D4-FB86-9F35-C80647358BD6}"/>
              </a:ext>
            </a:extLst>
          </p:cNvPr>
          <p:cNvSpPr txBox="1"/>
          <p:nvPr/>
        </p:nvSpPr>
        <p:spPr>
          <a:xfrm>
            <a:off x="1346200" y="289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two windows: the job appears live, students are notified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39D09A-C5D5-A561-89C2-A40AF4F4BCCC}"/>
              </a:ext>
            </a:extLst>
          </p:cNvPr>
          <p:cNvSpPr/>
          <p:nvPr/>
        </p:nvSpPr>
        <p:spPr>
          <a:xfrm>
            <a:off x="558800" y="37592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B7B7F-BE05-B92D-01F6-EBA45B08BE17}"/>
              </a:ext>
            </a:extLst>
          </p:cNvPr>
          <p:cNvSpPr txBox="1"/>
          <p:nvPr/>
        </p:nvSpPr>
        <p:spPr>
          <a:xfrm>
            <a:off x="1346200" y="37338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E3A8A"/>
                </a:solidFill>
                <a:latin typeface="Cambria" panose="02040503050406030204" pitchFamily="18" charset="0"/>
              </a:rPr>
              <a:t>Student applies and is tracked</a:t>
            </a:r>
            <a:endParaRPr lang="en-IN" sz="1700" b="1">
              <a:solidFill>
                <a:srgbClr val="1E3A8A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C14C18-9154-DDF4-F524-EA2C2ABE8812}"/>
              </a:ext>
            </a:extLst>
          </p:cNvPr>
          <p:cNvSpPr txBox="1"/>
          <p:nvPr/>
        </p:nvSpPr>
        <p:spPr>
          <a:xfrm>
            <a:off x="1346200" y="411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tracking id, statechart steps, timeline, accept offer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019D93-24BB-CA4F-A720-F4000380FB49}"/>
              </a:ext>
            </a:extLst>
          </p:cNvPr>
          <p:cNvSpPr/>
          <p:nvPr/>
        </p:nvSpPr>
        <p:spPr>
          <a:xfrm>
            <a:off x="558800" y="49784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6D4C6-944E-6172-EDB5-CFFA4F22EE2E}"/>
              </a:ext>
            </a:extLst>
          </p:cNvPr>
          <p:cNvSpPr txBox="1"/>
          <p:nvPr/>
        </p:nvSpPr>
        <p:spPr>
          <a:xfrm>
            <a:off x="1346200" y="49530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E3A8A"/>
                </a:solidFill>
                <a:latin typeface="Cambria" panose="02040503050406030204" pitchFamily="18" charset="0"/>
              </a:rPr>
              <a:t>Run all tests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1AE8B-506A-5805-F3FA-79FACB1E89E0}"/>
              </a:ext>
            </a:extLst>
          </p:cNvPr>
          <p:cNvSpPr txBox="1"/>
          <p:nvPr/>
        </p:nvSpPr>
        <p:spPr>
          <a:xfrm>
            <a:off x="1346200" y="5334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ourier New" panose="02070309020205020404" pitchFamily="49" charset="0"/>
              </a:rPr>
              <a:t>python -m tests.run_tests</a:t>
            </a:r>
            <a:endParaRPr lang="en-IN" sz="1300">
              <a:solidFill>
                <a:srgbClr val="1B2430"/>
              </a:solidFill>
              <a:latin typeface="Courier New" panose="020703090202050204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CAD969-9369-0495-DB59-1E7C8C61845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1596033"/>
            <a:ext cx="5105400" cy="3589734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E38A8F5-DAA4-DF01-5863-C7568B518DC0}"/>
              </a:ext>
            </a:extLst>
          </p:cNvPr>
          <p:cNvSpPr txBox="1"/>
          <p:nvPr/>
        </p:nvSpPr>
        <p:spPr>
          <a:xfrm>
            <a:off x="6527800" y="5740400"/>
            <a:ext cx="510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D6676"/>
                </a:solidFill>
                <a:latin typeface="Calibri" panose="020F0502020204030204" pitchFamily="34" charset="0"/>
              </a:rPr>
              <a:t>Approved job reaches the eligible student's open job board without a reload</a:t>
            </a:r>
            <a:endParaRPr lang="en-IN" sz="12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188E1F-A4F3-350D-05BF-A43905149042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Unified Student Placement System · SE Lab PBL · Vineet Shah, Roll No. 28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61BF2-1AB4-8354-C4D9-7DDEF34C7DF3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57609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EB28BD-57F5-F31A-F703-75DD6E3DB18F}"/>
              </a:ext>
            </a:extLst>
          </p:cNvPr>
          <p:cNvSpPr txBox="1"/>
          <p:nvPr/>
        </p:nvSpPr>
        <p:spPr>
          <a:xfrm>
            <a:off x="660400" y="5080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Cambria" panose="02040503050406030204" pitchFamily="18" charset="0"/>
              </a:rPr>
              <a:t>Conclusion and 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D89E0-6B34-07FB-CF2B-B197AE2AB46B}"/>
              </a:ext>
            </a:extLst>
          </p:cNvPr>
          <p:cNvSpPr txBox="1"/>
          <p:nvPr/>
        </p:nvSpPr>
        <p:spPr>
          <a:xfrm>
            <a:off x="660400" y="1473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1000"/>
              </a:spcAft>
            </a:pPr>
            <a:r>
              <a:rPr lang="en-US" b="1">
                <a:solidFill>
                  <a:srgbClr val="F59E0B"/>
                </a:solidFill>
                <a:latin typeface="Cambria" panose="02040503050406030204" pitchFamily="18" charset="0"/>
              </a:rPr>
              <a:t>What was achieved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BF7"/>
                </a:solidFill>
                <a:latin typeface="Calibri" panose="020F0502020204030204" pitchFamily="34" charset="0"/>
              </a:rPr>
              <a:t>Two working modules of my SRS with database, validation, statechart and live pages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BF7"/>
                </a:solidFill>
                <a:latin typeface="Calibri" panose="020F0502020204030204" pitchFamily="34" charset="0"/>
              </a:rPr>
              <a:t>Jira space: 49 work items, 3 sprints, 2 members, bugs tracked to closure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BF7"/>
                </a:solidFill>
                <a:latin typeface="Calibri" panose="020F0502020204030204" pitchFamily="34" charset="0"/>
              </a:rPr>
              <a:t>155 test cases; 4 bugs found, fixed and retested; 155 / 155 pass</a:t>
            </a:r>
            <a:endParaRPr lang="en-IN" sz="1600">
              <a:solidFill>
                <a:srgbClr val="E6EBF7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7ACB7-5881-F5A9-28DB-275CBCF9EEFC}"/>
              </a:ext>
            </a:extLst>
          </p:cNvPr>
          <p:cNvSpPr txBox="1"/>
          <p:nvPr/>
        </p:nvSpPr>
        <p:spPr>
          <a:xfrm>
            <a:off x="6527800" y="1473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1000"/>
              </a:spcAft>
            </a:pPr>
            <a:r>
              <a:rPr lang="en-US" b="1">
                <a:solidFill>
                  <a:srgbClr val="F59E0B"/>
                </a:solidFill>
                <a:latin typeface="Cambria" panose="02040503050406030204" pitchFamily="18" charset="0"/>
              </a:rPr>
              <a:t>Next steps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BF7"/>
                </a:solidFill>
                <a:latin typeface="Calibri" panose="020F0502020204030204" pitchFamily="34" charset="0"/>
              </a:rPr>
              <a:t>Login and role-based access (SRS 4.1)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BF7"/>
                </a:solidFill>
                <a:latin typeface="Calibri" panose="020F0502020204030204" pitchFamily="34" charset="0"/>
              </a:rPr>
              <a:t>Interview scheduling and offer letters (SRS 4.6, 4.7)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BF7"/>
                </a:solidFill>
                <a:latin typeface="Calibri" panose="020F0502020204030204" pitchFamily="34" charset="0"/>
              </a:rPr>
              <a:t>E-mail notifications and placement reports</a:t>
            </a:r>
            <a:endParaRPr lang="en-IN" sz="1600">
              <a:solidFill>
                <a:srgbClr val="E6EBF7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08E32-71B9-900C-1D52-2730400DC8D5}"/>
              </a:ext>
            </a:extLst>
          </p:cNvPr>
          <p:cNvSpPr txBox="1"/>
          <p:nvPr/>
        </p:nvSpPr>
        <p:spPr>
          <a:xfrm>
            <a:off x="660400" y="50800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Cambria" panose="02040503050406030204" pitchFamily="18" charset="0"/>
              </a:rPr>
              <a:t>Thank you · Questions?</a:t>
            </a:r>
          </a:p>
        </p:txBody>
      </p:sp>
    </p:spTree>
    <p:extLst>
      <p:ext uri="{BB962C8B-B14F-4D97-AF65-F5344CB8AC3E}">
        <p14:creationId xmlns:p14="http://schemas.microsoft.com/office/powerpoint/2010/main" val="3233100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1712</Words>
  <Application>Microsoft Office PowerPoint</Application>
  <PresentationFormat>Custom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Vineet Shah</dc:creator>
  <cp:lastModifiedBy>Vineet Shah</cp:lastModifiedBy>
  <cp:revision>1</cp:revision>
  <dcterms:created xsi:type="dcterms:W3CDTF">2026-10-26T07:30:38Z</dcterms:created>
  <dcterms:modified xsi:type="dcterms:W3CDTF">2026-10-26T07:30:39Z</dcterms:modified>
</cp:coreProperties>
</file>